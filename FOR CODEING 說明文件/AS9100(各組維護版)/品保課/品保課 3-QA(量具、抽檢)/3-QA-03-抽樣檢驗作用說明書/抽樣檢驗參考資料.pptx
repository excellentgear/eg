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1" r:id="rId2"/>
    <p:sldMasterId id="2147483652" r:id="rId3"/>
  </p:sldMasterIdLst>
  <p:notesMasterIdLst>
    <p:notesMasterId r:id="rId33"/>
  </p:notesMasterIdLst>
  <p:handoutMasterIdLst>
    <p:handoutMasterId r:id="rId34"/>
  </p:handoutMasterIdLst>
  <p:sldIdLst>
    <p:sldId id="306" r:id="rId4"/>
    <p:sldId id="305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98" r:id="rId14"/>
    <p:sldId id="289" r:id="rId15"/>
    <p:sldId id="290" r:id="rId16"/>
    <p:sldId id="291" r:id="rId17"/>
    <p:sldId id="292" r:id="rId18"/>
    <p:sldId id="293" r:id="rId19"/>
    <p:sldId id="299" r:id="rId20"/>
    <p:sldId id="294" r:id="rId21"/>
    <p:sldId id="300" r:id="rId22"/>
    <p:sldId id="301" r:id="rId23"/>
    <p:sldId id="295" r:id="rId24"/>
    <p:sldId id="296" r:id="rId25"/>
    <p:sldId id="307" r:id="rId26"/>
    <p:sldId id="302" r:id="rId27"/>
    <p:sldId id="303" r:id="rId28"/>
    <p:sldId id="297" r:id="rId29"/>
    <p:sldId id="308" r:id="rId30"/>
    <p:sldId id="309" r:id="rId31"/>
    <p:sldId id="304" r:id="rId32"/>
  </p:sldIdLst>
  <p:sldSz cx="9144000" cy="6858000" type="screen4x3"/>
  <p:notesSz cx="6797675" cy="987425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9" autoAdjust="0"/>
    <p:restoredTop sz="94394" autoAdjust="0"/>
  </p:normalViewPr>
  <p:slideViewPr>
    <p:cSldViewPr snapToGrid="0">
      <p:cViewPr>
        <p:scale>
          <a:sx n="80" d="100"/>
          <a:sy n="80" d="100"/>
        </p:scale>
        <p:origin x="-498" y="-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t" anchorCtr="0" compatLnSpc="1">
            <a:prstTxWarp prst="textNoShape">
              <a:avLst/>
            </a:prstTxWarp>
          </a:bodyPr>
          <a:lstStyle>
            <a:lvl1pPr defTabSz="952500">
              <a:defRPr sz="1200">
                <a:ea typeface="新細明體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>
                <a:ea typeface="新細明體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b" anchorCtr="0" compatLnSpc="1">
            <a:prstTxWarp prst="textNoShape">
              <a:avLst/>
            </a:prstTxWarp>
          </a:bodyPr>
          <a:lstStyle>
            <a:lvl1pPr defTabSz="952500">
              <a:defRPr sz="1200">
                <a:ea typeface="新細明體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716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80538"/>
            <a:ext cx="29464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>
                <a:ea typeface="新細明體" pitchFamily="18" charset="-120"/>
              </a:defRPr>
            </a:lvl1pPr>
          </a:lstStyle>
          <a:p>
            <a:fld id="{A6814E3E-FAD6-49AC-83E1-3A57C224716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55659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t" anchorCtr="0" compatLnSpc="1">
            <a:prstTxWarp prst="textNoShape">
              <a:avLst/>
            </a:prstTxWarp>
          </a:bodyPr>
          <a:lstStyle>
            <a:lvl1pPr defTabSz="952500">
              <a:defRPr sz="1200">
                <a:ea typeface="新細明體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>
                <a:ea typeface="新細明體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89475"/>
            <a:ext cx="5438775" cy="444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64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b" anchorCtr="0" compatLnSpc="1">
            <a:prstTxWarp prst="textNoShape">
              <a:avLst/>
            </a:prstTxWarp>
          </a:bodyPr>
          <a:lstStyle>
            <a:lvl1pPr defTabSz="952500">
              <a:defRPr sz="1200">
                <a:ea typeface="新細明體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80538"/>
            <a:ext cx="29464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58" tIns="47629" rIns="95258" bIns="47629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>
                <a:ea typeface="新細明體" pitchFamily="18" charset="-120"/>
              </a:defRPr>
            </a:lvl1pPr>
          </a:lstStyle>
          <a:p>
            <a:fld id="{421E073A-09B0-470F-83F3-EF4A8D5E6F4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9433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B5AACD-2C32-45DE-9D61-5037559189B8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73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E34DB-BBD3-4A13-8A8E-D677AFF1C3DA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73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1E93A7-8684-49E6-96C9-0135B23197D6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73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A4B800-CFCD-4AE0-A407-DF0E325D6126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73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FE44F8-1331-4526-95AE-7BD6B0244719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73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0E6B7-E02C-4251-AAA3-5FD9475C7F6D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74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4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C16CFE-17B1-483D-98D3-1666A42A8B2F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74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546985-336B-4CF8-BCB6-575A307F06C6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74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501F40-68BD-47C4-83C8-DC2A9502B221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74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A27197-E0EF-4305-95F0-09B5B442F5F3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4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6C0210-93E4-48E3-90B2-FE358673616B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5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D91253-B122-4643-9716-039EFCC3A50D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75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32DD20-731C-41E8-9985-9BB52105FE32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75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5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1D3BC0-9747-421F-A3A1-A927482758AC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75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5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5346F9-A422-4C32-937E-80E466016537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75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79C224-ACFF-4F3A-BD41-E4ECBC5653CA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6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9F3B1C-0918-476B-A705-0F6820C15C14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6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39775"/>
            <a:ext cx="4938713" cy="3703638"/>
          </a:xfrm>
          <a:ln/>
        </p:spPr>
      </p:sp>
      <p:sp>
        <p:nvSpPr>
          <p:cNvPr id="76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689475"/>
            <a:ext cx="5438775" cy="44450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878B8C02-4E76-4B9B-9607-EE969C62350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267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2C4BA6BD-7EE3-420F-9EAC-34ECE58106D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513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4488" y="2017713"/>
            <a:ext cx="41259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2800" y="2017713"/>
            <a:ext cx="4125913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463D6C6A-E70C-49BB-8EC0-D43D2D3C0A9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911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42D0C863-1FD2-432D-B900-0389C18088D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802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8CF957DD-834A-420E-A0E9-C38088C1755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3485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27C9D5FC-52BB-4C10-8746-8A217581710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661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5756E604-81A4-48BE-B8F9-13D1BD73332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5988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722A6514-1FA4-48C6-9C81-FC98C9EBF82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927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8A540AC0-AEE5-4931-9C54-BD1633B0BBE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548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43688" y="196850"/>
            <a:ext cx="2106612" cy="59356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96850"/>
            <a:ext cx="6167438" cy="59356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85B0AA8B-5863-485F-B942-893C42A4971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5298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A9240FDA-C341-4D95-8260-9DC9431F94A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2775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6EFA9FA2-5783-4107-A1A9-71BB364840D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844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ED7EE89C-4314-457C-BF9F-2E0441272E9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3025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8313" y="1557338"/>
            <a:ext cx="4027487" cy="4575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557338"/>
            <a:ext cx="4027488" cy="4575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203A3E58-0517-46DB-B30D-A4323A2CAC8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93277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9E245439-1C49-4656-B4B7-4E113D28385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180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BEFE8A9D-4C67-4E1A-8FBF-FC87B7180B7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1871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568C6B72-7695-41FA-9790-FF96212B12A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78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8C365D31-4E31-4B49-8E02-62CCB525B3C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8899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CA9E2071-50CF-4750-A155-D1516B2570B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13354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E5BD12EF-3683-461E-858B-7D8ABFE897F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30647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60166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60166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057A5370-0186-4507-92D6-ABC8C97101D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735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68313" y="1557338"/>
            <a:ext cx="4027487" cy="45751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557338"/>
            <a:ext cx="4027488" cy="45751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453188"/>
            <a:ext cx="6583363" cy="268287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6553200" y="6453188"/>
            <a:ext cx="2133600" cy="26828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943D3A3A-3A45-41EB-BB8B-60B61284E29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1300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6DFE78D8-A7D8-438A-A3B4-F1DD5BC4885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66622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62B32C77-0CA2-46ED-904D-B4ADDFC3DC4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66065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F31CD8E4-C83A-4788-94B9-95973052146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94347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549275"/>
            <a:ext cx="4038600" cy="5576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549275"/>
            <a:ext cx="4038600" cy="5576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2AE64B64-B1CF-41A2-A112-BB8371B1DD1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18225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36C8C423-00D6-4BCB-9469-6032A3BC970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595484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5E6841D1-42B2-4868-89C3-3B11D572A52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74780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88FEFE20-562B-49D4-9B98-8D6A6714E74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0866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CAB47B64-063B-45A8-BCAB-757E544A69B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34233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6EADF442-9882-43EF-BC57-F3F9AD15AFD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7511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0655C2AA-FBDB-4142-84AE-EA37BDF6D42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77914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9-</a:t>
            </a:r>
            <a:fld id="{78FA7C56-358A-4D41-891E-7AE40A1A097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527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18" Type="http://schemas.openxmlformats.org/officeDocument/2006/relationships/image" Target="../media/image6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8" Type="http://schemas.openxmlformats.org/officeDocument/2006/relationships/image" Target="../media/image1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8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3.jpeg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9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96850"/>
            <a:ext cx="84264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0634" y="1828800"/>
            <a:ext cx="8609610" cy="4453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3086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6176963" cy="291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>
                <a:ea typeface="微軟正黑體" pitchFamily="34" charset="-120"/>
              </a:defRPr>
            </a:lvl1pPr>
          </a:lstStyle>
          <a:p>
            <a:r>
              <a:rPr lang="zh-TW" altLang="en-US" smtClean="0"/>
              <a:t>品質管理：理論與實務　</a:t>
            </a:r>
            <a:r>
              <a:rPr lang="en-US" altLang="zh-TW" smtClean="0"/>
              <a:t>chapter 9</a:t>
            </a:r>
            <a:r>
              <a:rPr lang="zh-TW" altLang="en-US" smtClean="0"/>
              <a:t>　計數值抽樣檢驗計畫</a:t>
            </a:r>
            <a:r>
              <a:rPr lang="en-US" altLang="zh-TW" smtClean="0"/>
              <a:t>(MIL-STD-105E)</a:t>
            </a:r>
            <a:endParaRPr lang="en-US" altLang="zh-TW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448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>
                <a:ea typeface="微軟正黑體" pitchFamily="34" charset="-120"/>
              </a:defRPr>
            </a:lvl1pPr>
          </a:lstStyle>
          <a:p>
            <a:r>
              <a:rPr lang="en-US" altLang="zh-TW" smtClean="0"/>
              <a:t>9-</a:t>
            </a:r>
            <a:fld id="{D240567B-FCFB-4794-AB21-FE51D0CA6B0B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3088" name="Text Box 16"/>
          <p:cNvSpPr txBox="1">
            <a:spLocks noChangeArrowheads="1"/>
          </p:cNvSpPr>
          <p:nvPr userDrawn="1"/>
        </p:nvSpPr>
        <p:spPr bwMode="auto">
          <a:xfrm>
            <a:off x="1331913" y="1347788"/>
            <a:ext cx="1104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1">
                <a:solidFill>
                  <a:srgbClr val="CC3300"/>
                </a:solidFill>
                <a:ea typeface="新細明體" pitchFamily="18" charset="-120"/>
              </a:rPr>
              <a:t>Chapter 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95000"/>
        <a:buFont typeface="Wingdings" pitchFamily="2" charset="2"/>
        <a:buBlip>
          <a:blip r:embed="rId14"/>
        </a:buBlip>
        <a:defRPr kumimoji="1" sz="2800" b="1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Blip>
          <a:blip r:embed="rId15"/>
        </a:buBlip>
        <a:defRPr kumimoji="1" sz="2800" b="1">
          <a:solidFill>
            <a:srgbClr val="002060"/>
          </a:solidFill>
          <a:latin typeface="+mn-lt"/>
          <a:ea typeface="+mn-ea"/>
        </a:defRPr>
      </a:lvl2pPr>
      <a:lvl3pPr marL="1143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95000"/>
        <a:buFont typeface="Wingdings" pitchFamily="2" charset="2"/>
        <a:buBlip>
          <a:blip r:embed="rId16"/>
        </a:buBlip>
        <a:defRPr kumimoji="1" sz="2800" b="1">
          <a:solidFill>
            <a:srgbClr val="002060"/>
          </a:solidFill>
          <a:latin typeface="+mn-lt"/>
          <a:ea typeface="+mn-ea"/>
        </a:defRPr>
      </a:lvl3pPr>
      <a:lvl4pPr marL="1600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95000"/>
        <a:buFont typeface="Wingdings" pitchFamily="2" charset="2"/>
        <a:buBlip>
          <a:blip r:embed="rId17"/>
        </a:buBlip>
        <a:defRPr kumimoji="1" sz="2800" b="1">
          <a:solidFill>
            <a:srgbClr val="002060"/>
          </a:solidFill>
          <a:latin typeface="+mn-lt"/>
          <a:ea typeface="+mn-ea"/>
        </a:defRPr>
      </a:lvl4pPr>
      <a:lvl5pPr marL="20574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95000"/>
        <a:buFont typeface="Wingdings" pitchFamily="2" charset="2"/>
        <a:buBlip>
          <a:blip r:embed="rId18"/>
        </a:buBlip>
        <a:defRPr kumimoji="1" sz="2800" b="1">
          <a:solidFill>
            <a:srgbClr val="002060"/>
          </a:solidFill>
          <a:latin typeface="+mn-lt"/>
          <a:ea typeface="+mn-ea"/>
        </a:defRPr>
      </a:lvl5pPr>
      <a:lvl6pPr marL="25146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95000"/>
        <a:buFont typeface="Wingdings" pitchFamily="2" charset="2"/>
        <a:buBlip>
          <a:blip r:embed="rId18"/>
        </a:buBlip>
        <a:defRPr kumimoji="1" sz="2800" b="1">
          <a:solidFill>
            <a:schemeClr val="tx1"/>
          </a:solidFill>
          <a:latin typeface="+mn-lt"/>
          <a:ea typeface="+mn-ea"/>
        </a:defRPr>
      </a:lvl6pPr>
      <a:lvl7pPr marL="29718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95000"/>
        <a:buFont typeface="Wingdings" pitchFamily="2" charset="2"/>
        <a:buBlip>
          <a:blip r:embed="rId18"/>
        </a:buBlip>
        <a:defRPr kumimoji="1" sz="2800" b="1">
          <a:solidFill>
            <a:schemeClr val="tx1"/>
          </a:solidFill>
          <a:latin typeface="+mn-lt"/>
          <a:ea typeface="+mn-ea"/>
        </a:defRPr>
      </a:lvl7pPr>
      <a:lvl8pPr marL="3429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95000"/>
        <a:buFont typeface="Wingdings" pitchFamily="2" charset="2"/>
        <a:buBlip>
          <a:blip r:embed="rId18"/>
        </a:buBlip>
        <a:defRPr kumimoji="1" sz="2800" b="1">
          <a:solidFill>
            <a:schemeClr val="tx1"/>
          </a:solidFill>
          <a:latin typeface="+mn-lt"/>
          <a:ea typeface="+mn-ea"/>
        </a:defRPr>
      </a:lvl8pPr>
      <a:lvl9pPr marL="3886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95000"/>
        <a:buFont typeface="Wingdings" pitchFamily="2" charset="2"/>
        <a:buBlip>
          <a:blip r:embed="rId18"/>
        </a:buBlip>
        <a:defRPr kumimoji="1"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3761" y="1484416"/>
            <a:ext cx="8431481" cy="4833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7373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6583363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>
                <a:ea typeface="微軟正黑體" pitchFamily="34" charset="-120"/>
              </a:defRPr>
            </a:lvl1pPr>
          </a:lstStyle>
          <a:p>
            <a:r>
              <a:rPr lang="zh-TW" altLang="en-US" smtClean="0"/>
              <a:t>品質管理：理論與實務　</a:t>
            </a:r>
            <a:r>
              <a:rPr lang="en-US" altLang="zh-TW" smtClean="0"/>
              <a:t>chapter 9</a:t>
            </a:r>
            <a:r>
              <a:rPr lang="zh-TW" altLang="en-US" smtClean="0"/>
              <a:t>　計數值抽樣檢驗計畫</a:t>
            </a:r>
            <a:r>
              <a:rPr lang="en-US" altLang="zh-TW" smtClean="0"/>
              <a:t>(MIL-STD-105E)</a:t>
            </a:r>
            <a:endParaRPr lang="en-US" altLang="zh-TW"/>
          </a:p>
        </p:txBody>
      </p:sp>
      <p:sp>
        <p:nvSpPr>
          <p:cNvPr id="73740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>
                <a:ea typeface="微軟正黑體" pitchFamily="34" charset="-120"/>
              </a:defRPr>
            </a:lvl1pPr>
          </a:lstStyle>
          <a:p>
            <a:r>
              <a:rPr lang="en-US" altLang="zh-TW" smtClean="0"/>
              <a:t>9-</a:t>
            </a:r>
            <a:fld id="{E4D1AC3A-9F35-4A44-8E2F-770169901D49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85" r:id="rId12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5"/>
        </a:buBlip>
        <a:defRPr kumimoji="1" sz="2800" b="1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6"/>
        </a:buBlip>
        <a:defRPr kumimoji="1" sz="2600" b="1">
          <a:solidFill>
            <a:srgbClr val="002060"/>
          </a:solidFill>
          <a:latin typeface="+mn-lt"/>
          <a:ea typeface="+mn-ea"/>
        </a:defRPr>
      </a:lvl2pPr>
      <a:lvl3pPr marL="1143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600" b="1">
          <a:solidFill>
            <a:srgbClr val="002060"/>
          </a:solidFill>
          <a:latin typeface="+mn-lt"/>
          <a:ea typeface="+mn-ea"/>
        </a:defRPr>
      </a:lvl3pPr>
      <a:lvl4pPr marL="1600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8"/>
        </a:buBlip>
        <a:defRPr kumimoji="1" sz="2600" b="1">
          <a:solidFill>
            <a:srgbClr val="002060"/>
          </a:solidFill>
          <a:latin typeface="+mn-lt"/>
          <a:ea typeface="+mn-ea"/>
        </a:defRPr>
      </a:lvl4pPr>
      <a:lvl5pPr marL="20574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9"/>
        </a:buBlip>
        <a:defRPr kumimoji="1" sz="2600" b="1">
          <a:solidFill>
            <a:srgbClr val="002060"/>
          </a:solidFill>
          <a:latin typeface="+mn-lt"/>
          <a:ea typeface="+mn-ea"/>
        </a:defRPr>
      </a:lvl5pPr>
      <a:lvl6pPr marL="25146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9"/>
        </a:buBlip>
        <a:defRPr kumimoji="1" sz="2600" b="1">
          <a:solidFill>
            <a:schemeClr val="tx1"/>
          </a:solidFill>
          <a:latin typeface="+mn-lt"/>
          <a:ea typeface="+mn-ea"/>
        </a:defRPr>
      </a:lvl6pPr>
      <a:lvl7pPr marL="29718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9"/>
        </a:buBlip>
        <a:defRPr kumimoji="1" sz="2600" b="1">
          <a:solidFill>
            <a:schemeClr val="tx1"/>
          </a:solidFill>
          <a:latin typeface="+mn-lt"/>
          <a:ea typeface="+mn-ea"/>
        </a:defRPr>
      </a:lvl7pPr>
      <a:lvl8pPr marL="3429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9"/>
        </a:buBlip>
        <a:defRPr kumimoji="1" sz="2600" b="1">
          <a:solidFill>
            <a:schemeClr val="tx1"/>
          </a:solidFill>
          <a:latin typeface="+mn-lt"/>
          <a:ea typeface="+mn-ea"/>
        </a:defRPr>
      </a:lvl8pPr>
      <a:lvl9pPr marL="3886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9"/>
        </a:buBlip>
        <a:defRPr kumimoji="1" sz="2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549275"/>
            <a:ext cx="8229600" cy="557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7476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38900"/>
            <a:ext cx="680085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j-ea"/>
              </a:defRPr>
            </a:lvl1pPr>
          </a:lstStyle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74763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j-ea"/>
              </a:defRPr>
            </a:lvl1pPr>
          </a:lstStyle>
          <a:p>
            <a:r>
              <a:rPr lang="en-US" altLang="zh-TW"/>
              <a:t>9-</a:t>
            </a:r>
            <a:fld id="{01EA1272-F818-460E-BF60-053AF0A3DC6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4"/>
        </a:buBlip>
        <a:defRPr kumimoji="1" sz="2800" b="1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5"/>
        </a:buBlip>
        <a:defRPr kumimoji="1" sz="2600" b="1">
          <a:solidFill>
            <a:srgbClr val="002060"/>
          </a:solidFill>
          <a:latin typeface="+mn-lt"/>
          <a:ea typeface="+mn-ea"/>
        </a:defRPr>
      </a:lvl2pPr>
      <a:lvl3pPr marL="1143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6"/>
        </a:buBlip>
        <a:defRPr kumimoji="1" sz="2600" b="1">
          <a:solidFill>
            <a:srgbClr val="002060"/>
          </a:solidFill>
          <a:latin typeface="+mn-lt"/>
          <a:ea typeface="+mn-ea"/>
        </a:defRPr>
      </a:lvl3pPr>
      <a:lvl4pPr marL="1600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600" b="1">
          <a:solidFill>
            <a:srgbClr val="002060"/>
          </a:solidFill>
          <a:latin typeface="+mn-lt"/>
          <a:ea typeface="+mn-ea"/>
        </a:defRPr>
      </a:lvl4pPr>
      <a:lvl5pPr marL="20574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8"/>
        </a:buBlip>
        <a:defRPr kumimoji="1" sz="2600" b="1">
          <a:solidFill>
            <a:srgbClr val="002060"/>
          </a:solidFill>
          <a:latin typeface="+mn-lt"/>
          <a:ea typeface="+mn-ea"/>
        </a:defRPr>
      </a:lvl5pPr>
      <a:lvl6pPr marL="25146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8"/>
        </a:buBlip>
        <a:defRPr kumimoji="1" sz="2600" b="1">
          <a:solidFill>
            <a:schemeClr val="tx1"/>
          </a:solidFill>
          <a:latin typeface="+mn-lt"/>
          <a:ea typeface="+mn-ea"/>
        </a:defRPr>
      </a:lvl6pPr>
      <a:lvl7pPr marL="29718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8"/>
        </a:buBlip>
        <a:defRPr kumimoji="1" sz="2600" b="1">
          <a:solidFill>
            <a:schemeClr val="tx1"/>
          </a:solidFill>
          <a:latin typeface="+mn-lt"/>
          <a:ea typeface="+mn-ea"/>
        </a:defRPr>
      </a:lvl7pPr>
      <a:lvl8pPr marL="3429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8"/>
        </a:buBlip>
        <a:defRPr kumimoji="1" sz="2600" b="1">
          <a:solidFill>
            <a:schemeClr val="tx1"/>
          </a:solidFill>
          <a:latin typeface="+mn-lt"/>
          <a:ea typeface="+mn-ea"/>
        </a:defRPr>
      </a:lvl8pPr>
      <a:lvl9pPr marL="3886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8"/>
        </a:buBlip>
        <a:defRPr kumimoji="1" sz="2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30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8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5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2"/>
            <a:ext cx="7772400" cy="2924071"/>
          </a:xfrm>
        </p:spPr>
        <p:txBody>
          <a:bodyPr anchor="ctr"/>
          <a:lstStyle/>
          <a:p>
            <a:pPr algn="ctr"/>
            <a:r>
              <a:rPr lang="en-US" altLang="zh-TW" sz="54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9</a:t>
            </a:r>
          </a:p>
          <a:p>
            <a:pPr algn="ctr"/>
            <a:r>
              <a:rPr lang="zh-TW" altLang="en-US" sz="5400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計數值抽樣檢驗計畫</a:t>
            </a:r>
            <a:r>
              <a:rPr lang="en-US" altLang="zh-TW" sz="5400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(MIL-STD-105E</a:t>
            </a:r>
            <a:r>
              <a:rPr lang="en-US" altLang="zh-TW" sz="54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 smtClean="0"/>
              <a:t>9-</a:t>
            </a:r>
            <a:fld id="{2C4BA6BD-7EE3-420F-9EAC-34ECE58106D6}" type="slidenum">
              <a:rPr lang="en-US" altLang="zh-TW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355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A8595823-BD67-4FE0-994E-ACFAFC7F8365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79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計數值抽樣檢驗計畫</a:t>
            </a:r>
          </a:p>
        </p:txBody>
      </p:sp>
      <p:sp>
        <p:nvSpPr>
          <p:cNvPr id="79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236" y="1875209"/>
            <a:ext cx="8550130" cy="4114800"/>
          </a:xfrm>
        </p:spPr>
        <p:txBody>
          <a:bodyPr/>
          <a:lstStyle/>
          <a:p>
            <a:r>
              <a:rPr lang="en-US" altLang="zh-TW" sz="3200" dirty="0">
                <a:solidFill>
                  <a:srgbClr val="002060"/>
                </a:solidFill>
              </a:rPr>
              <a:t>9.1  </a:t>
            </a:r>
            <a:r>
              <a:rPr lang="en-US" altLang="zh-TW" sz="3200" dirty="0">
                <a:solidFill>
                  <a:srgbClr val="C00000"/>
                </a:solidFill>
              </a:rPr>
              <a:t>MIL-STD-105E</a:t>
            </a:r>
            <a:r>
              <a:rPr lang="zh-TW" altLang="en-US" sz="3200" dirty="0">
                <a:solidFill>
                  <a:srgbClr val="002060"/>
                </a:solidFill>
              </a:rPr>
              <a:t>之發展背景</a:t>
            </a:r>
          </a:p>
          <a:p>
            <a:r>
              <a:rPr lang="en-US" altLang="zh-TW" sz="3200" dirty="0">
                <a:solidFill>
                  <a:srgbClr val="002060"/>
                </a:solidFill>
              </a:rPr>
              <a:t>9.2  </a:t>
            </a:r>
            <a:r>
              <a:rPr lang="zh-TW" altLang="en-US" sz="3200" dirty="0">
                <a:solidFill>
                  <a:srgbClr val="002060"/>
                </a:solidFill>
              </a:rPr>
              <a:t>使用</a:t>
            </a:r>
            <a:r>
              <a:rPr lang="en-US" altLang="zh-TW" sz="3200" dirty="0">
                <a:solidFill>
                  <a:srgbClr val="002060"/>
                </a:solidFill>
              </a:rPr>
              <a:t>105E</a:t>
            </a:r>
            <a:r>
              <a:rPr lang="zh-TW" altLang="en-US" sz="3200" dirty="0">
                <a:solidFill>
                  <a:srgbClr val="002060"/>
                </a:solidFill>
              </a:rPr>
              <a:t>之</a:t>
            </a:r>
            <a:r>
              <a:rPr lang="zh-TW" altLang="en-US" sz="3200" dirty="0">
                <a:solidFill>
                  <a:srgbClr val="C00000"/>
                </a:solidFill>
              </a:rPr>
              <a:t>步驟</a:t>
            </a:r>
          </a:p>
          <a:p>
            <a:r>
              <a:rPr lang="en-US" altLang="zh-TW" sz="3200" dirty="0">
                <a:solidFill>
                  <a:srgbClr val="002060"/>
                </a:solidFill>
              </a:rPr>
              <a:t>9.3  </a:t>
            </a:r>
            <a:r>
              <a:rPr lang="zh-TW" altLang="en-US" sz="3200" dirty="0">
                <a:solidFill>
                  <a:srgbClr val="C00000"/>
                </a:solidFill>
              </a:rPr>
              <a:t>單次抽樣檢驗計畫</a:t>
            </a:r>
          </a:p>
          <a:p>
            <a:r>
              <a:rPr lang="en-US" altLang="zh-TW" sz="3200" dirty="0">
                <a:solidFill>
                  <a:srgbClr val="002060"/>
                </a:solidFill>
              </a:rPr>
              <a:t>9.4  </a:t>
            </a:r>
            <a:r>
              <a:rPr lang="zh-TW" altLang="en-US" sz="3200" dirty="0">
                <a:solidFill>
                  <a:srgbClr val="C00000"/>
                </a:solidFill>
              </a:rPr>
              <a:t>雙次抽樣檢驗計畫</a:t>
            </a:r>
          </a:p>
          <a:p>
            <a:r>
              <a:rPr lang="en-US" altLang="zh-TW" sz="3200" dirty="0">
                <a:solidFill>
                  <a:srgbClr val="002060"/>
                </a:solidFill>
              </a:rPr>
              <a:t>9.5  MIL-STD-105E</a:t>
            </a:r>
            <a:r>
              <a:rPr lang="zh-TW" altLang="en-US" sz="3200" dirty="0">
                <a:solidFill>
                  <a:srgbClr val="002060"/>
                </a:solidFill>
              </a:rPr>
              <a:t>的</a:t>
            </a:r>
            <a:r>
              <a:rPr lang="zh-TW" altLang="en-US" sz="3200" dirty="0">
                <a:solidFill>
                  <a:srgbClr val="C00000"/>
                </a:solidFill>
              </a:rPr>
              <a:t>轉換法則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 dirty="0"/>
              <a:t>品質管理：理論與實務　</a:t>
            </a:r>
            <a:r>
              <a:rPr lang="en-US" altLang="zh-TW" dirty="0"/>
              <a:t>chapter 9</a:t>
            </a:r>
            <a:r>
              <a:rPr lang="zh-TW" altLang="en-US" dirty="0"/>
              <a:t>　計數值抽樣檢驗計畫</a:t>
            </a:r>
            <a:r>
              <a:rPr lang="en-US" altLang="zh-TW" dirty="0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1E3EC516-1131-4841-9B23-49ED0364B36E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73011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計數值抽樣檢驗計畫</a:t>
            </a:r>
          </a:p>
        </p:txBody>
      </p:sp>
      <p:sp>
        <p:nvSpPr>
          <p:cNvPr id="73011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200" dirty="0"/>
              <a:t>MIL-STD-105E</a:t>
            </a:r>
            <a:r>
              <a:rPr lang="zh-TW" altLang="en-US" sz="3200" dirty="0"/>
              <a:t>：強調</a:t>
            </a:r>
            <a:r>
              <a:rPr lang="zh-TW" altLang="en-US" sz="3200" dirty="0">
                <a:solidFill>
                  <a:srgbClr val="C00000"/>
                </a:solidFill>
              </a:rPr>
              <a:t>允收水準 </a:t>
            </a:r>
          </a:p>
          <a:p>
            <a:endParaRPr lang="zh-TW" altLang="en-US" sz="3200" dirty="0"/>
          </a:p>
          <a:p>
            <a:endParaRPr lang="zh-TW" altLang="en-US" sz="3200" dirty="0"/>
          </a:p>
          <a:p>
            <a:r>
              <a:rPr lang="en-US" altLang="zh-TW" sz="3200" dirty="0"/>
              <a:t>MIL-STD-105E</a:t>
            </a:r>
            <a:r>
              <a:rPr lang="zh-TW" altLang="en-US" sz="3200" dirty="0"/>
              <a:t>：檢驗水準可分成：一般</a:t>
            </a:r>
            <a:r>
              <a:rPr lang="en-US" altLang="zh-TW" sz="3200" dirty="0"/>
              <a:t>(I , </a:t>
            </a:r>
            <a:r>
              <a:rPr lang="en-US" altLang="zh-TW" sz="3200" dirty="0">
                <a:solidFill>
                  <a:srgbClr val="C00000"/>
                </a:solidFill>
              </a:rPr>
              <a:t>II</a:t>
            </a:r>
            <a:r>
              <a:rPr lang="en-US" altLang="zh-TW" sz="3200" dirty="0"/>
              <a:t> , III)</a:t>
            </a:r>
            <a:r>
              <a:rPr lang="zh-TW" altLang="en-US" sz="3200" dirty="0"/>
              <a:t>及</a:t>
            </a:r>
            <a:r>
              <a:rPr lang="zh-TW" altLang="en-US" sz="3200" dirty="0">
                <a:solidFill>
                  <a:srgbClr val="C00000"/>
                </a:solidFill>
              </a:rPr>
              <a:t>特殊水準</a:t>
            </a:r>
            <a:r>
              <a:rPr lang="en-US" altLang="zh-TW" sz="3200" dirty="0"/>
              <a:t>(</a:t>
            </a:r>
            <a:r>
              <a:rPr lang="en-US" altLang="zh-TW" sz="3200" i="1" dirty="0"/>
              <a:t>S-</a:t>
            </a:r>
            <a:r>
              <a:rPr lang="en-US" altLang="zh-TW" sz="3200" dirty="0"/>
              <a:t>1, </a:t>
            </a:r>
            <a:r>
              <a:rPr lang="en-US" altLang="zh-TW" sz="3200" i="1" dirty="0"/>
              <a:t>S-</a:t>
            </a:r>
            <a:r>
              <a:rPr lang="en-US" altLang="zh-TW" sz="3200" dirty="0"/>
              <a:t>2, </a:t>
            </a:r>
            <a:r>
              <a:rPr lang="en-US" altLang="zh-TW" sz="3200" i="1" dirty="0"/>
              <a:t>S-</a:t>
            </a:r>
            <a:r>
              <a:rPr lang="en-US" altLang="zh-TW" sz="3200" dirty="0"/>
              <a:t>3, </a:t>
            </a:r>
            <a:r>
              <a:rPr lang="en-US" altLang="zh-TW" sz="3200" i="1" dirty="0"/>
              <a:t>S-</a:t>
            </a:r>
            <a:r>
              <a:rPr lang="en-US" altLang="zh-TW" sz="3200" dirty="0"/>
              <a:t>4) </a:t>
            </a:r>
          </a:p>
          <a:p>
            <a:endParaRPr lang="en-US" altLang="zh-TW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0262C69C-A97C-4325-893E-DCFAC2A07B22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7321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使用</a:t>
            </a:r>
            <a:r>
              <a:rPr lang="en-US" altLang="zh-TW"/>
              <a:t>105E</a:t>
            </a:r>
            <a:r>
              <a:rPr lang="zh-TW" altLang="en-US"/>
              <a:t>之步驟 </a:t>
            </a:r>
          </a:p>
        </p:txBody>
      </p:sp>
      <p:sp>
        <p:nvSpPr>
          <p:cNvPr id="7321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486086"/>
            <a:ext cx="8473806" cy="4778375"/>
          </a:xfrm>
        </p:spPr>
        <p:txBody>
          <a:bodyPr/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2600" dirty="0" smtClean="0"/>
              <a:t>依</a:t>
            </a:r>
            <a:r>
              <a:rPr lang="zh-TW" altLang="en-US" sz="2600" dirty="0"/>
              <a:t>品質特性之重要性決定</a:t>
            </a:r>
            <a:r>
              <a:rPr lang="zh-TW" altLang="en-US" sz="2600" dirty="0">
                <a:solidFill>
                  <a:srgbClr val="C00000"/>
                </a:solidFill>
              </a:rPr>
              <a:t>允收水準</a:t>
            </a:r>
            <a:r>
              <a:rPr lang="zh-TW" altLang="en-US" dirty="0"/>
              <a:t>（</a:t>
            </a:r>
            <a:r>
              <a:rPr lang="en-US" altLang="zh-TW" dirty="0">
                <a:solidFill>
                  <a:srgbClr val="C00000"/>
                </a:solidFill>
              </a:rPr>
              <a:t>AQL</a:t>
            </a:r>
            <a:r>
              <a:rPr lang="zh-TW" altLang="en-US" dirty="0"/>
              <a:t>）</a:t>
            </a:r>
            <a:endParaRPr lang="zh-TW" altLang="en-US" sz="26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2600" dirty="0" smtClean="0"/>
              <a:t>決定</a:t>
            </a:r>
            <a:r>
              <a:rPr lang="zh-TW" altLang="en-US" sz="2600" dirty="0">
                <a:solidFill>
                  <a:srgbClr val="C00000"/>
                </a:solidFill>
              </a:rPr>
              <a:t>檢驗水準</a:t>
            </a:r>
            <a:r>
              <a:rPr lang="zh-TW" altLang="en-US" sz="2600" dirty="0"/>
              <a:t>（依檢驗員之能力而定，</a:t>
            </a:r>
            <a:r>
              <a:rPr lang="zh-TW" altLang="en-US" sz="2600" dirty="0">
                <a:solidFill>
                  <a:srgbClr val="C00000"/>
                </a:solidFill>
              </a:rPr>
              <a:t>一般為 </a:t>
            </a:r>
            <a:r>
              <a:rPr lang="en-US" altLang="zh-TW" sz="2600" dirty="0">
                <a:solidFill>
                  <a:srgbClr val="C00000"/>
                </a:solidFill>
              </a:rPr>
              <a:t>II</a:t>
            </a:r>
            <a:r>
              <a:rPr lang="zh-TW" altLang="en-US" sz="2600" dirty="0"/>
              <a:t>）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2600" dirty="0" smtClean="0"/>
              <a:t>決定</a:t>
            </a:r>
            <a:r>
              <a:rPr lang="zh-TW" altLang="en-US" sz="2600" dirty="0" smtClean="0">
                <a:solidFill>
                  <a:srgbClr val="C00000"/>
                </a:solidFill>
              </a:rPr>
              <a:t>批量大小</a:t>
            </a:r>
            <a:endParaRPr lang="zh-TW" altLang="en-US" sz="2600" dirty="0">
              <a:solidFill>
                <a:srgbClr val="C00000"/>
              </a:solidFill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2600" dirty="0" smtClean="0"/>
              <a:t>查表</a:t>
            </a:r>
            <a:r>
              <a:rPr lang="en-US" altLang="zh-TW" sz="2600" dirty="0"/>
              <a:t>9.1</a:t>
            </a:r>
            <a:r>
              <a:rPr lang="zh-TW" altLang="en-US" sz="2600" dirty="0"/>
              <a:t>找出</a:t>
            </a:r>
            <a:r>
              <a:rPr lang="zh-TW" altLang="en-US" sz="2600" dirty="0">
                <a:solidFill>
                  <a:srgbClr val="C00000"/>
                </a:solidFill>
              </a:rPr>
              <a:t>樣本大小代碼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2600" dirty="0" smtClean="0"/>
              <a:t>決定</a:t>
            </a:r>
            <a:r>
              <a:rPr lang="zh-TW" altLang="en-US" sz="2600" dirty="0"/>
              <a:t>使用何種抽樣方法（</a:t>
            </a:r>
            <a:r>
              <a:rPr lang="zh-TW" altLang="en-US" sz="2600" dirty="0">
                <a:solidFill>
                  <a:srgbClr val="C00000"/>
                </a:solidFill>
              </a:rPr>
              <a:t>單</a:t>
            </a:r>
            <a:r>
              <a:rPr lang="zh-TW" altLang="en-US" sz="2600" dirty="0"/>
              <a:t>、雙或多次）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2600" dirty="0" smtClean="0"/>
              <a:t>查表</a:t>
            </a:r>
            <a:r>
              <a:rPr lang="en-US" altLang="zh-TW" sz="2600" dirty="0"/>
              <a:t>9.2</a:t>
            </a:r>
            <a:r>
              <a:rPr lang="zh-TW" altLang="en-US" sz="2600" dirty="0"/>
              <a:t>找出適當之</a:t>
            </a:r>
            <a:r>
              <a:rPr lang="zh-TW" altLang="en-US" sz="2600" dirty="0">
                <a:solidFill>
                  <a:srgbClr val="C00000"/>
                </a:solidFill>
              </a:rPr>
              <a:t>抽樣計畫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2600" dirty="0" smtClean="0"/>
              <a:t>進行</a:t>
            </a:r>
            <a:r>
              <a:rPr lang="zh-TW" altLang="en-US" sz="2600" dirty="0"/>
              <a:t>檢驗並做出</a:t>
            </a:r>
            <a:r>
              <a:rPr lang="zh-TW" altLang="en-US" sz="2600" dirty="0">
                <a:solidFill>
                  <a:srgbClr val="C00000"/>
                </a:solidFill>
              </a:rPr>
              <a:t>允收</a:t>
            </a:r>
            <a:r>
              <a:rPr lang="en-US" altLang="zh-TW" sz="2600" dirty="0">
                <a:solidFill>
                  <a:srgbClr val="C00000"/>
                </a:solidFill>
              </a:rPr>
              <a:t>/</a:t>
            </a:r>
            <a:r>
              <a:rPr lang="zh-TW" altLang="en-US" sz="2600" dirty="0">
                <a:solidFill>
                  <a:srgbClr val="C00000"/>
                </a:solidFill>
              </a:rPr>
              <a:t>拒收之決定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2600" dirty="0" smtClean="0"/>
              <a:t>依</a:t>
            </a:r>
            <a:r>
              <a:rPr lang="zh-TW" altLang="en-US" sz="2600" dirty="0"/>
              <a:t>檢驗之歷史紀錄，必要時，進行</a:t>
            </a:r>
            <a:r>
              <a:rPr lang="zh-TW" altLang="en-US" sz="2600" dirty="0">
                <a:solidFill>
                  <a:srgbClr val="C00000"/>
                </a:solidFill>
              </a:rPr>
              <a:t>嚴格或減量檢驗</a:t>
            </a:r>
            <a:r>
              <a:rPr lang="zh-TW" altLang="en-US" sz="2600" dirty="0"/>
              <a:t>之轉換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1505725C-2648-486D-B263-B4693BB8A265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7342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單次抽樣檢驗計畫</a:t>
            </a:r>
          </a:p>
        </p:txBody>
      </p:sp>
      <p:sp>
        <p:nvSpPr>
          <p:cNvPr id="73421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令</a:t>
            </a:r>
            <a:r>
              <a:rPr lang="en-US" altLang="zh-TW" dirty="0"/>
              <a:t>X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C00000"/>
                </a:solidFill>
              </a:rPr>
              <a:t>不良品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rgbClr val="C00000"/>
                </a:solidFill>
              </a:rPr>
              <a:t>缺點數</a:t>
            </a:r>
          </a:p>
          <a:p>
            <a:pPr lvl="1"/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：樣本大小</a:t>
            </a:r>
          </a:p>
          <a:p>
            <a:pPr lvl="1"/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：批量大小</a:t>
            </a:r>
          </a:p>
          <a:p>
            <a:pPr lvl="1"/>
            <a:r>
              <a:rPr lang="en-US" altLang="zh-TW" i="1" dirty="0">
                <a:solidFill>
                  <a:srgbClr val="C00000"/>
                </a:solidFill>
              </a:rPr>
              <a:t>Ac</a:t>
            </a:r>
            <a:r>
              <a:rPr lang="zh-TW" altLang="en-US" dirty="0">
                <a:solidFill>
                  <a:srgbClr val="C00000"/>
                </a:solidFill>
              </a:rPr>
              <a:t>：允收數</a:t>
            </a:r>
            <a:r>
              <a:rPr lang="zh-TW" altLang="en-US" dirty="0"/>
              <a:t>（可寫成</a:t>
            </a:r>
            <a:r>
              <a:rPr lang="en-US" altLang="zh-TW" i="1" dirty="0"/>
              <a:t>c</a:t>
            </a:r>
            <a:r>
              <a:rPr lang="zh-TW" altLang="en-US" dirty="0"/>
              <a:t>）</a:t>
            </a:r>
          </a:p>
          <a:p>
            <a:pPr lvl="1"/>
            <a:r>
              <a:rPr lang="en-US" altLang="zh-TW" i="1" dirty="0">
                <a:solidFill>
                  <a:srgbClr val="C00000"/>
                </a:solidFill>
              </a:rPr>
              <a:t>Re</a:t>
            </a:r>
            <a:r>
              <a:rPr lang="zh-TW" altLang="en-US" dirty="0">
                <a:solidFill>
                  <a:srgbClr val="C00000"/>
                </a:solidFill>
              </a:rPr>
              <a:t>：拒收數</a:t>
            </a:r>
            <a:r>
              <a:rPr lang="zh-TW" altLang="en-US" dirty="0"/>
              <a:t>（可寫成</a:t>
            </a:r>
            <a:r>
              <a:rPr lang="en-US" altLang="zh-TW" i="1" dirty="0"/>
              <a:t>r</a:t>
            </a:r>
            <a:r>
              <a:rPr lang="zh-TW" altLang="en-US" dirty="0"/>
              <a:t>）</a:t>
            </a:r>
          </a:p>
          <a:p>
            <a:pPr lvl="1"/>
            <a:r>
              <a:rPr lang="zh-TW" altLang="en-US" dirty="0"/>
              <a:t>若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i="1" dirty="0" err="1">
                <a:solidFill>
                  <a:srgbClr val="C00000"/>
                </a:solidFill>
              </a:rPr>
              <a:t>X</a:t>
            </a:r>
            <a:r>
              <a:rPr lang="en-US" altLang="zh-TW" dirty="0" err="1">
                <a:solidFill>
                  <a:srgbClr val="C00000"/>
                </a:solidFill>
                <a:cs typeface="Times New Roman" pitchFamily="18" charset="0"/>
              </a:rPr>
              <a:t>≥</a:t>
            </a:r>
            <a:r>
              <a:rPr lang="en-US" altLang="zh-TW" i="1" dirty="0" err="1">
                <a:solidFill>
                  <a:srgbClr val="C00000"/>
                </a:solidFill>
              </a:rPr>
              <a:t>Re</a:t>
            </a:r>
            <a:r>
              <a:rPr lang="zh-TW" altLang="en-US" dirty="0"/>
              <a:t>，則</a:t>
            </a:r>
            <a:r>
              <a:rPr lang="zh-TW" altLang="en-US" dirty="0">
                <a:solidFill>
                  <a:srgbClr val="C00000"/>
                </a:solidFill>
              </a:rPr>
              <a:t>拒收</a:t>
            </a:r>
            <a:r>
              <a:rPr lang="zh-TW" altLang="en-US" dirty="0"/>
              <a:t>此批量</a:t>
            </a:r>
          </a:p>
          <a:p>
            <a:pPr lvl="1"/>
            <a:r>
              <a:rPr lang="zh-TW" altLang="en-US" dirty="0"/>
              <a:t>若 </a:t>
            </a:r>
            <a:r>
              <a:rPr lang="en-US" altLang="zh-TW" i="1" dirty="0" err="1">
                <a:solidFill>
                  <a:srgbClr val="C00000"/>
                </a:solidFill>
              </a:rPr>
              <a:t>X</a:t>
            </a:r>
            <a:r>
              <a:rPr lang="en-US" altLang="zh-TW" dirty="0" err="1">
                <a:solidFill>
                  <a:srgbClr val="C00000"/>
                </a:solidFill>
                <a:cs typeface="Times New Roman" pitchFamily="18" charset="0"/>
              </a:rPr>
              <a:t>≤</a:t>
            </a:r>
            <a:r>
              <a:rPr lang="en-US" altLang="zh-TW" i="1" dirty="0" err="1">
                <a:solidFill>
                  <a:srgbClr val="C00000"/>
                </a:solidFill>
              </a:rPr>
              <a:t>Ac</a:t>
            </a:r>
            <a:r>
              <a:rPr lang="zh-TW" altLang="en-US" dirty="0"/>
              <a:t>，則</a:t>
            </a:r>
            <a:r>
              <a:rPr lang="zh-TW" altLang="en-US" dirty="0">
                <a:solidFill>
                  <a:srgbClr val="C00000"/>
                </a:solidFill>
              </a:rPr>
              <a:t>接受</a:t>
            </a:r>
            <a:r>
              <a:rPr lang="zh-TW" altLang="en-US" dirty="0"/>
              <a:t>此批量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549C19E2-E595-46FC-A825-E791ED617353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736271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雙次抽樣檢驗計畫 </a:t>
            </a:r>
            <a:r>
              <a:rPr lang="en-US" altLang="zh-TW" sz="1600"/>
              <a:t>1/2 </a:t>
            </a:r>
          </a:p>
        </p:txBody>
      </p:sp>
      <p:sp>
        <p:nvSpPr>
          <p:cNvPr id="736272" name="Rectangle 1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dirty="0"/>
              <a:t>令</a:t>
            </a:r>
            <a:r>
              <a:rPr lang="en-US" altLang="zh-TW" i="1" dirty="0"/>
              <a:t>X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C00000"/>
                </a:solidFill>
              </a:rPr>
              <a:t>第一次及第二次</a:t>
            </a:r>
            <a:r>
              <a:rPr lang="zh-TW" altLang="en-US" dirty="0"/>
              <a:t>抽樣樣本中，</a:t>
            </a:r>
            <a:r>
              <a:rPr lang="zh-TW" altLang="en-US" dirty="0">
                <a:solidFill>
                  <a:srgbClr val="C00000"/>
                </a:solidFill>
              </a:rPr>
              <a:t>累積</a:t>
            </a:r>
            <a:r>
              <a:rPr lang="zh-TW" altLang="en-US" dirty="0"/>
              <a:t>之不良品數</a:t>
            </a:r>
          </a:p>
          <a:p>
            <a:pPr lvl="1" algn="ctr">
              <a:lnSpc>
                <a:spcPct val="100000"/>
              </a:lnSpc>
              <a:buFontTx/>
              <a:buNone/>
            </a:pPr>
            <a:r>
              <a:rPr lang="en-US" altLang="zh-TW" i="1" dirty="0">
                <a:solidFill>
                  <a:srgbClr val="C00000"/>
                </a:solidFill>
              </a:rPr>
              <a:t>X</a:t>
            </a:r>
            <a:r>
              <a:rPr lang="zh-TW" altLang="en-US" dirty="0">
                <a:solidFill>
                  <a:srgbClr val="C00000"/>
                </a:solidFill>
              </a:rPr>
              <a:t>＝</a:t>
            </a:r>
            <a:r>
              <a:rPr lang="en-US" altLang="zh-TW" i="1" dirty="0">
                <a:solidFill>
                  <a:srgbClr val="C00000"/>
                </a:solidFill>
              </a:rPr>
              <a:t>X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C00000"/>
                </a:solidFill>
              </a:rPr>
              <a:t>+</a:t>
            </a:r>
            <a:r>
              <a:rPr lang="en-US" altLang="zh-TW" i="1" dirty="0">
                <a:solidFill>
                  <a:srgbClr val="C00000"/>
                </a:solidFill>
              </a:rPr>
              <a:t>X</a:t>
            </a:r>
            <a:r>
              <a:rPr lang="en-US" altLang="zh-TW" baseline="-25000" dirty="0">
                <a:solidFill>
                  <a:srgbClr val="C00000"/>
                </a:solidFill>
              </a:rPr>
              <a:t>2</a:t>
            </a:r>
          </a:p>
          <a:p>
            <a:pPr lvl="1">
              <a:lnSpc>
                <a:spcPct val="100000"/>
              </a:lnSpc>
            </a:pPr>
            <a:r>
              <a:rPr lang="en-US" altLang="zh-TW" i="1" dirty="0"/>
              <a:t>n</a:t>
            </a:r>
            <a:r>
              <a:rPr lang="en-US" altLang="zh-TW" baseline="-25000" dirty="0"/>
              <a:t>1</a:t>
            </a:r>
            <a:r>
              <a:rPr lang="zh-TW" altLang="en-US" dirty="0"/>
              <a:t>：第一次抽樣樣本之大小</a:t>
            </a:r>
          </a:p>
          <a:p>
            <a:pPr lvl="1">
              <a:lnSpc>
                <a:spcPct val="100000"/>
              </a:lnSpc>
            </a:pPr>
            <a:r>
              <a:rPr lang="en-US" altLang="zh-TW" i="1" dirty="0"/>
              <a:t>n</a:t>
            </a:r>
            <a:r>
              <a:rPr lang="en-US" altLang="zh-TW" baseline="-25000" dirty="0"/>
              <a:t>2</a:t>
            </a:r>
            <a:r>
              <a:rPr lang="zh-TW" altLang="en-US" dirty="0"/>
              <a:t>：第二次抽樣樣本之大小</a:t>
            </a:r>
          </a:p>
          <a:p>
            <a:pPr lvl="1">
              <a:lnSpc>
                <a:spcPct val="100000"/>
              </a:lnSpc>
            </a:pPr>
            <a:r>
              <a:rPr lang="en-US" altLang="zh-TW" i="1" dirty="0"/>
              <a:t>Ac</a:t>
            </a:r>
            <a:r>
              <a:rPr lang="en-US" altLang="zh-TW" baseline="-25000" dirty="0"/>
              <a:t>1</a:t>
            </a:r>
            <a:r>
              <a:rPr lang="zh-TW" altLang="en-US" dirty="0"/>
              <a:t>：第一次抽樣之</a:t>
            </a:r>
            <a:r>
              <a:rPr lang="zh-TW" altLang="en-US" dirty="0">
                <a:solidFill>
                  <a:srgbClr val="C00000"/>
                </a:solidFill>
              </a:rPr>
              <a:t>允收數（或寫成</a:t>
            </a:r>
            <a:r>
              <a:rPr lang="en-US" altLang="zh-TW" i="1" dirty="0">
                <a:solidFill>
                  <a:srgbClr val="C00000"/>
                </a:solidFill>
              </a:rPr>
              <a:t>c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zh-TW" altLang="en-US" dirty="0">
                <a:solidFill>
                  <a:srgbClr val="C00000"/>
                </a:solidFill>
              </a:rPr>
              <a:t>）</a:t>
            </a:r>
          </a:p>
          <a:p>
            <a:pPr lvl="1">
              <a:lnSpc>
                <a:spcPct val="100000"/>
              </a:lnSpc>
            </a:pPr>
            <a:r>
              <a:rPr lang="en-US" altLang="zh-TW" i="1" dirty="0"/>
              <a:t>Re</a:t>
            </a:r>
            <a:r>
              <a:rPr lang="en-US" altLang="zh-TW" baseline="-25000" dirty="0"/>
              <a:t>1</a:t>
            </a:r>
            <a:r>
              <a:rPr lang="zh-TW" altLang="en-US" dirty="0"/>
              <a:t>：第一次抽樣之</a:t>
            </a:r>
            <a:r>
              <a:rPr lang="zh-TW" altLang="en-US" dirty="0">
                <a:solidFill>
                  <a:srgbClr val="C00000"/>
                </a:solidFill>
              </a:rPr>
              <a:t>拒收數（或寫成</a:t>
            </a:r>
            <a:r>
              <a:rPr lang="en-US" altLang="zh-TW" i="1" dirty="0">
                <a:solidFill>
                  <a:srgbClr val="C00000"/>
                </a:solidFill>
              </a:rPr>
              <a:t>r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zh-TW" altLang="en-US" dirty="0">
                <a:solidFill>
                  <a:srgbClr val="C00000"/>
                </a:solidFill>
              </a:rPr>
              <a:t>）</a:t>
            </a:r>
          </a:p>
          <a:p>
            <a:pPr lvl="1">
              <a:lnSpc>
                <a:spcPct val="100000"/>
              </a:lnSpc>
            </a:pPr>
            <a:r>
              <a:rPr lang="en-US" altLang="zh-TW" i="1" dirty="0"/>
              <a:t>Ac</a:t>
            </a:r>
            <a:r>
              <a:rPr lang="en-US" altLang="zh-TW" baseline="-25000" dirty="0"/>
              <a:t>2</a:t>
            </a:r>
            <a:r>
              <a:rPr lang="zh-TW" altLang="en-US" dirty="0"/>
              <a:t>：第二次抽樣之</a:t>
            </a:r>
            <a:r>
              <a:rPr lang="zh-TW" altLang="en-US" dirty="0">
                <a:solidFill>
                  <a:srgbClr val="C00000"/>
                </a:solidFill>
              </a:rPr>
              <a:t>允收數（或寫成</a:t>
            </a:r>
            <a:r>
              <a:rPr lang="en-US" altLang="zh-TW" i="1" dirty="0">
                <a:solidFill>
                  <a:srgbClr val="C00000"/>
                </a:solidFill>
              </a:rPr>
              <a:t>c</a:t>
            </a:r>
            <a:r>
              <a:rPr lang="en-US" altLang="zh-TW" baseline="-25000" dirty="0">
                <a:solidFill>
                  <a:srgbClr val="C00000"/>
                </a:solidFill>
              </a:rPr>
              <a:t>2</a:t>
            </a:r>
            <a:r>
              <a:rPr lang="zh-TW" altLang="en-US" dirty="0">
                <a:solidFill>
                  <a:srgbClr val="C00000"/>
                </a:solidFill>
              </a:rPr>
              <a:t>）</a:t>
            </a:r>
          </a:p>
          <a:p>
            <a:pPr lvl="1">
              <a:lnSpc>
                <a:spcPct val="100000"/>
              </a:lnSpc>
            </a:pPr>
            <a:r>
              <a:rPr lang="en-US" altLang="zh-TW" i="1" dirty="0"/>
              <a:t>Re</a:t>
            </a:r>
            <a:r>
              <a:rPr lang="en-US" altLang="zh-TW" baseline="-25000" dirty="0"/>
              <a:t>2</a:t>
            </a:r>
            <a:r>
              <a:rPr lang="zh-TW" altLang="en-US" dirty="0"/>
              <a:t>：第二次抽樣之</a:t>
            </a:r>
            <a:r>
              <a:rPr lang="zh-TW" altLang="en-US" dirty="0">
                <a:solidFill>
                  <a:srgbClr val="C00000"/>
                </a:solidFill>
              </a:rPr>
              <a:t>拒收數（或寫成</a:t>
            </a:r>
            <a:r>
              <a:rPr lang="en-US" altLang="zh-TW" i="1" dirty="0">
                <a:solidFill>
                  <a:srgbClr val="C00000"/>
                </a:solidFill>
              </a:rPr>
              <a:t>r</a:t>
            </a:r>
            <a:r>
              <a:rPr lang="en-US" altLang="zh-TW" baseline="-25000" dirty="0">
                <a:solidFill>
                  <a:srgbClr val="C00000"/>
                </a:solidFill>
              </a:rPr>
              <a:t>2</a:t>
            </a:r>
            <a:r>
              <a:rPr lang="zh-TW" altLang="en-US" dirty="0">
                <a:solidFill>
                  <a:srgbClr val="C00000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AE606714-56C9-4849-AF4D-DAED08BEF1C1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73831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雙次抽樣檢驗計畫 </a:t>
            </a:r>
            <a:r>
              <a:rPr lang="en-US" altLang="zh-TW" sz="1600"/>
              <a:t>2/2</a:t>
            </a:r>
          </a:p>
        </p:txBody>
      </p:sp>
      <p:sp>
        <p:nvSpPr>
          <p:cNvPr id="738313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557338"/>
            <a:ext cx="7743825" cy="4575175"/>
          </a:xfrm>
        </p:spPr>
        <p:txBody>
          <a:bodyPr/>
          <a:lstStyle/>
          <a:p>
            <a:r>
              <a:rPr lang="zh-TW" altLang="en-US" sz="2400" dirty="0"/>
              <a:t>第一階段抽取</a:t>
            </a:r>
            <a:r>
              <a:rPr lang="en-US" altLang="zh-TW" sz="2400" i="1" dirty="0">
                <a:solidFill>
                  <a:srgbClr val="C00000"/>
                </a:solidFill>
              </a:rPr>
              <a:t>n</a:t>
            </a:r>
            <a:r>
              <a:rPr lang="en-US" altLang="zh-TW" sz="2400" baseline="-25000" dirty="0">
                <a:solidFill>
                  <a:srgbClr val="C00000"/>
                </a:solidFill>
              </a:rPr>
              <a:t>1</a:t>
            </a:r>
            <a:r>
              <a:rPr lang="zh-TW" altLang="en-US" sz="2400" dirty="0"/>
              <a:t>個樣本</a:t>
            </a:r>
          </a:p>
          <a:p>
            <a:pPr>
              <a:buFontTx/>
              <a:buNone/>
            </a:pPr>
            <a:endParaRPr lang="zh-TW" altLang="en-US" sz="2400" dirty="0"/>
          </a:p>
          <a:p>
            <a:endParaRPr lang="zh-TW" altLang="en-US" sz="2400" dirty="0"/>
          </a:p>
          <a:p>
            <a:endParaRPr lang="zh-TW" altLang="en-US" sz="2400" dirty="0"/>
          </a:p>
          <a:p>
            <a:r>
              <a:rPr lang="zh-TW" altLang="en-US" sz="2400" dirty="0"/>
              <a:t>若</a:t>
            </a:r>
            <a:r>
              <a:rPr lang="en-US" altLang="zh-TW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</a:t>
            </a:r>
            <a:r>
              <a:rPr lang="en-US" altLang="zh-TW" sz="24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TW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en-US" altLang="zh-TW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TW" sz="24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TW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en-US" altLang="zh-TW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</a:t>
            </a:r>
            <a:r>
              <a:rPr lang="en-US" altLang="zh-TW" sz="240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TW" altLang="en-US" sz="2400" dirty="0"/>
              <a:t>，則</a:t>
            </a:r>
            <a:r>
              <a:rPr lang="zh-TW" altLang="en-US" sz="2400" dirty="0">
                <a:solidFill>
                  <a:srgbClr val="C00000"/>
                </a:solidFill>
              </a:rPr>
              <a:t>進行第二次抽樣</a:t>
            </a:r>
            <a:r>
              <a:rPr lang="zh-TW" altLang="en-US" sz="2400" dirty="0"/>
              <a:t>再抽取</a:t>
            </a:r>
            <a:r>
              <a:rPr lang="en-US" altLang="zh-TW" sz="2400" i="1" dirty="0">
                <a:solidFill>
                  <a:srgbClr val="C00000"/>
                </a:solidFill>
              </a:rPr>
              <a:t>n</a:t>
            </a:r>
            <a:r>
              <a:rPr lang="en-US" altLang="zh-TW" sz="2400" baseline="-25000" dirty="0">
                <a:solidFill>
                  <a:srgbClr val="C00000"/>
                </a:solidFill>
              </a:rPr>
              <a:t>2</a:t>
            </a:r>
            <a:r>
              <a:rPr lang="zh-TW" altLang="en-US" sz="2400" dirty="0"/>
              <a:t>個樣本</a:t>
            </a:r>
          </a:p>
        </p:txBody>
      </p:sp>
      <p:graphicFrame>
        <p:nvGraphicFramePr>
          <p:cNvPr id="738308" name="Object 4"/>
          <p:cNvGraphicFramePr>
            <a:graphicFrameLocks noChangeAspect="1"/>
          </p:cNvGraphicFramePr>
          <p:nvPr/>
        </p:nvGraphicFramePr>
        <p:xfrm>
          <a:off x="4508500" y="3308350"/>
          <a:ext cx="12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83" name="Equation" r:id="rId4" imgW="126720" imgH="241200" progId="Equation.3">
                  <p:embed/>
                </p:oleObj>
              </mc:Choice>
              <mc:Fallback>
                <p:oleObj name="Equation" r:id="rId4" imgW="12672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3308350"/>
                        <a:ext cx="127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1" name="Object 7"/>
          <p:cNvGraphicFramePr>
            <a:graphicFrameLocks noChangeAspect="1"/>
          </p:cNvGraphicFramePr>
          <p:nvPr/>
        </p:nvGraphicFramePr>
        <p:xfrm>
          <a:off x="1552575" y="4613275"/>
          <a:ext cx="4386263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84" name="Equation" r:id="rId6" imgW="1981080" imgH="482400" progId="Equation.DSMT4">
                  <p:embed/>
                </p:oleObj>
              </mc:Choice>
              <mc:Fallback>
                <p:oleObj name="Equation" r:id="rId6" imgW="198108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4613275"/>
                        <a:ext cx="4386263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5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1631950" y="2257425"/>
          <a:ext cx="4275138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85" name="方程式" r:id="rId8" imgW="1879560" imgH="482400" progId="Equation.3">
                  <p:embed/>
                </p:oleObj>
              </mc:Choice>
              <mc:Fallback>
                <p:oleObj name="方程式" r:id="rId8" imgW="1879560" imgH="482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2257425"/>
                        <a:ext cx="4275138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BF658474-9C05-4933-B2D5-4D8CBE96BE9E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740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</a:t>
            </a:r>
            <a:r>
              <a:rPr lang="en-US" altLang="zh-TW"/>
              <a:t>—</a:t>
            </a:r>
            <a:r>
              <a:rPr lang="zh-TW" altLang="en-US"/>
              <a:t>單次抽樣檢驗計畫 </a:t>
            </a:r>
            <a:r>
              <a:rPr lang="en-US" altLang="zh-TW" sz="1600"/>
              <a:t>1/4</a:t>
            </a:r>
          </a:p>
        </p:txBody>
      </p:sp>
      <p:sp>
        <p:nvSpPr>
          <p:cNvPr id="74035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1  </a:t>
            </a:r>
          </a:p>
          <a:p>
            <a:pPr>
              <a:buFontTx/>
              <a:buNone/>
            </a:pPr>
            <a:r>
              <a:rPr lang="en-US" altLang="zh-TW" dirty="0"/>
              <a:t>	</a:t>
            </a:r>
            <a:r>
              <a:rPr lang="zh-TW" altLang="en-US" dirty="0"/>
              <a:t>試求</a:t>
            </a:r>
            <a:r>
              <a:rPr lang="en-US" altLang="zh-TW" dirty="0">
                <a:solidFill>
                  <a:srgbClr val="C00000"/>
                </a:solidFill>
              </a:rPr>
              <a:t>AQL=1.5%</a:t>
            </a:r>
            <a:r>
              <a:rPr lang="zh-TW" altLang="en-US" dirty="0"/>
              <a:t>，檢驗水準為</a:t>
            </a:r>
            <a:r>
              <a:rPr lang="en-US" altLang="zh-TW" dirty="0">
                <a:solidFill>
                  <a:srgbClr val="C00000"/>
                </a:solidFill>
              </a:rPr>
              <a:t>II</a:t>
            </a:r>
            <a:r>
              <a:rPr lang="zh-TW" altLang="en-US" dirty="0"/>
              <a:t>，</a:t>
            </a:r>
            <a:r>
              <a:rPr lang="en-US" altLang="zh-TW" dirty="0"/>
              <a:t>N</a:t>
            </a:r>
            <a:r>
              <a:rPr lang="zh-TW" altLang="en-US" dirty="0"/>
              <a:t>＝</a:t>
            </a:r>
            <a:r>
              <a:rPr lang="en-US" altLang="zh-TW" dirty="0"/>
              <a:t>500</a:t>
            </a:r>
            <a:r>
              <a:rPr lang="zh-TW" altLang="en-US" dirty="0"/>
              <a:t>之</a:t>
            </a:r>
            <a:r>
              <a:rPr lang="zh-TW" altLang="en-US" dirty="0">
                <a:solidFill>
                  <a:srgbClr val="C00000"/>
                </a:solidFill>
              </a:rPr>
              <a:t>單次正常</a:t>
            </a:r>
            <a:r>
              <a:rPr lang="zh-TW" altLang="en-US" dirty="0"/>
              <a:t>檢驗抽樣計畫？</a:t>
            </a:r>
          </a:p>
          <a:p>
            <a:pPr>
              <a:buFontTx/>
              <a:buNone/>
            </a:pPr>
            <a:r>
              <a:rPr lang="zh-TW" altLang="en-US" dirty="0">
                <a:solidFill>
                  <a:srgbClr val="CC3300"/>
                </a:solidFill>
              </a:rPr>
              <a:t>	</a:t>
            </a:r>
          </a:p>
          <a:p>
            <a:pPr>
              <a:buFontTx/>
              <a:buNone/>
            </a:pPr>
            <a:r>
              <a:rPr lang="zh-TW" altLang="en-US" dirty="0">
                <a:solidFill>
                  <a:srgbClr val="CC3300"/>
                </a:solidFill>
              </a:rPr>
              <a:t>	解</a:t>
            </a:r>
            <a:r>
              <a:rPr lang="zh-TW" altLang="en-US" dirty="0"/>
              <a:t>：由</a:t>
            </a:r>
            <a:r>
              <a:rPr lang="zh-TW" altLang="en-US" dirty="0">
                <a:solidFill>
                  <a:srgbClr val="C00000"/>
                </a:solidFill>
              </a:rPr>
              <a:t>表</a:t>
            </a:r>
            <a:r>
              <a:rPr lang="en-US" altLang="zh-TW" dirty="0">
                <a:solidFill>
                  <a:srgbClr val="C00000"/>
                </a:solidFill>
              </a:rPr>
              <a:t>9.1</a:t>
            </a:r>
            <a:r>
              <a:rPr lang="zh-TW" altLang="en-US" dirty="0"/>
              <a:t>，吾人可找到樣本大小代碼為</a:t>
            </a:r>
            <a:r>
              <a:rPr lang="en-US" altLang="zh-TW" dirty="0">
                <a:solidFill>
                  <a:srgbClr val="C00000"/>
                </a:solidFill>
              </a:rPr>
              <a:t>H</a:t>
            </a:r>
            <a:r>
              <a:rPr lang="zh-TW" altLang="en-US" dirty="0"/>
              <a:t>再查</a:t>
            </a:r>
            <a:r>
              <a:rPr lang="zh-TW" altLang="en-US" dirty="0">
                <a:solidFill>
                  <a:srgbClr val="C00000"/>
                </a:solidFill>
              </a:rPr>
              <a:t>表</a:t>
            </a:r>
            <a:r>
              <a:rPr lang="en-US" altLang="zh-TW" dirty="0">
                <a:solidFill>
                  <a:srgbClr val="C00000"/>
                </a:solidFill>
              </a:rPr>
              <a:t>9.2</a:t>
            </a:r>
            <a:r>
              <a:rPr lang="zh-TW" altLang="en-US" dirty="0"/>
              <a:t>（</a:t>
            </a:r>
            <a:r>
              <a:rPr lang="zh-TW" altLang="en-US" dirty="0">
                <a:solidFill>
                  <a:srgbClr val="C00000"/>
                </a:solidFill>
              </a:rPr>
              <a:t>正常檢驗</a:t>
            </a:r>
            <a:r>
              <a:rPr lang="zh-TW" altLang="en-US" dirty="0"/>
              <a:t>）可求得：</a:t>
            </a:r>
            <a:r>
              <a:rPr lang="en-US" altLang="zh-TW" i="1" dirty="0"/>
              <a:t>n</a:t>
            </a:r>
            <a:r>
              <a:rPr lang="zh-TW" altLang="en-US" dirty="0"/>
              <a:t>＝</a:t>
            </a:r>
            <a:r>
              <a:rPr lang="en-US" altLang="zh-TW" dirty="0"/>
              <a:t>50</a:t>
            </a:r>
            <a:r>
              <a:rPr lang="zh-TW" altLang="en-US" dirty="0"/>
              <a:t>，</a:t>
            </a:r>
            <a:r>
              <a:rPr lang="en-US" altLang="zh-TW" i="1" dirty="0"/>
              <a:t>Ac</a:t>
            </a:r>
            <a:r>
              <a:rPr lang="en-US" altLang="zh-TW" dirty="0"/>
              <a:t>=2</a:t>
            </a:r>
            <a:r>
              <a:rPr lang="zh-TW" altLang="en-US" dirty="0"/>
              <a:t>，</a:t>
            </a:r>
            <a:r>
              <a:rPr lang="en-US" altLang="zh-TW" i="1" dirty="0"/>
              <a:t>Re</a:t>
            </a:r>
            <a:r>
              <a:rPr lang="en-US" altLang="zh-TW" dirty="0"/>
              <a:t>=3</a:t>
            </a:r>
            <a:r>
              <a:rPr lang="zh-TW" altLang="en-US" dirty="0"/>
              <a:t>，即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r</a:t>
            </a:r>
            <a:r>
              <a:rPr lang="en-US" altLang="zh-TW" dirty="0"/>
              <a:t>)= (50, 2, 3)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1BF0E21B-7036-43E7-B466-FABF78BF6543}" type="slidenum">
              <a:rPr lang="en-US" altLang="zh-TW"/>
              <a:pPr/>
              <a:t>9</a:t>
            </a:fld>
            <a:endParaRPr lang="en-US" altLang="zh-TW"/>
          </a:p>
        </p:txBody>
      </p:sp>
      <p:pic>
        <p:nvPicPr>
          <p:cNvPr id="7424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1817688"/>
            <a:ext cx="5791200" cy="445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42408" name="Text Box 8"/>
          <p:cNvSpPr txBox="1">
            <a:spLocks noChangeArrowheads="1"/>
          </p:cNvSpPr>
          <p:nvPr/>
        </p:nvSpPr>
        <p:spPr bwMode="auto">
          <a:xfrm>
            <a:off x="3665538" y="1358900"/>
            <a:ext cx="2241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/>
              <a:t>表 </a:t>
            </a:r>
            <a:r>
              <a:rPr lang="en-US" altLang="zh-TW"/>
              <a:t>9.1  </a:t>
            </a:r>
            <a:r>
              <a:rPr lang="zh-TW" altLang="en-US"/>
              <a:t>樣本大小代碼</a:t>
            </a:r>
          </a:p>
        </p:txBody>
      </p:sp>
      <p:sp>
        <p:nvSpPr>
          <p:cNvPr id="74240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</a:t>
            </a:r>
            <a:r>
              <a:rPr lang="en-US" altLang="zh-TW"/>
              <a:t>—</a:t>
            </a:r>
            <a:r>
              <a:rPr lang="zh-TW" altLang="en-US"/>
              <a:t>單次抽樣檢驗計畫 </a:t>
            </a:r>
            <a:r>
              <a:rPr lang="en-US" altLang="zh-TW" sz="1600"/>
              <a:t>3/4</a:t>
            </a:r>
          </a:p>
        </p:txBody>
      </p:sp>
      <p:sp>
        <p:nvSpPr>
          <p:cNvPr id="2" name="圓角矩形 1"/>
          <p:cNvSpPr/>
          <p:nvPr/>
        </p:nvSpPr>
        <p:spPr bwMode="auto">
          <a:xfrm>
            <a:off x="1860550" y="4144489"/>
            <a:ext cx="5791200" cy="332509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>
            <a:off x="1890713" y="4615545"/>
            <a:ext cx="5791200" cy="332509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99D74295-C84D-45BF-8F84-398BBFF048EB}" type="slidenum">
              <a:rPr lang="en-US" altLang="zh-TW"/>
              <a:pPr/>
              <a:t>10</a:t>
            </a:fld>
            <a:endParaRPr lang="en-US" altLang="zh-TW"/>
          </a:p>
        </p:txBody>
      </p:sp>
      <p:pic>
        <p:nvPicPr>
          <p:cNvPr id="744456" name="Picture 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1724025"/>
            <a:ext cx="8382000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44459" name="Rectangle 11"/>
          <p:cNvSpPr>
            <a:spLocks noChangeArrowheads="1"/>
          </p:cNvSpPr>
          <p:nvPr/>
        </p:nvSpPr>
        <p:spPr bwMode="auto">
          <a:xfrm>
            <a:off x="3181350" y="1347788"/>
            <a:ext cx="327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/>
              <a:t>表   </a:t>
            </a:r>
            <a:r>
              <a:rPr lang="en-US" altLang="zh-TW"/>
              <a:t>9.2  </a:t>
            </a:r>
            <a:r>
              <a:rPr lang="zh-TW" altLang="en-US"/>
              <a:t>單次抽樣正常檢驗主表</a:t>
            </a:r>
          </a:p>
        </p:txBody>
      </p:sp>
      <p:sp>
        <p:nvSpPr>
          <p:cNvPr id="744460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</a:t>
            </a:r>
            <a:r>
              <a:rPr lang="en-US" altLang="zh-TW"/>
              <a:t>—</a:t>
            </a:r>
            <a:r>
              <a:rPr lang="zh-TW" altLang="en-US"/>
              <a:t>單次抽樣檢驗計畫 </a:t>
            </a:r>
            <a:r>
              <a:rPr lang="en-US" altLang="zh-TW" sz="1600"/>
              <a:t>4/4</a:t>
            </a:r>
          </a:p>
        </p:txBody>
      </p:sp>
      <p:sp>
        <p:nvSpPr>
          <p:cNvPr id="7" name="圓角矩形 6"/>
          <p:cNvSpPr/>
          <p:nvPr/>
        </p:nvSpPr>
        <p:spPr bwMode="auto">
          <a:xfrm>
            <a:off x="638812" y="3763303"/>
            <a:ext cx="8322625" cy="166254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 rot="16200000">
            <a:off x="2447841" y="3989191"/>
            <a:ext cx="4396840" cy="260741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9" name="圓角矩形 8"/>
          <p:cNvSpPr/>
          <p:nvPr/>
        </p:nvSpPr>
        <p:spPr bwMode="auto">
          <a:xfrm>
            <a:off x="593294" y="5673251"/>
            <a:ext cx="3922595" cy="454416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D2507D17-7DBF-4008-906E-E4F452A2F2F0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7649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</a:t>
            </a:r>
            <a:r>
              <a:rPr lang="en-US" altLang="zh-TW"/>
              <a:t>—</a:t>
            </a:r>
            <a:r>
              <a:rPr lang="zh-TW" altLang="en-US"/>
              <a:t>單次抽樣檢驗計畫 </a:t>
            </a:r>
            <a:r>
              <a:rPr lang="en-US" altLang="zh-TW" sz="1600"/>
              <a:t>2/4</a:t>
            </a:r>
          </a:p>
        </p:txBody>
      </p:sp>
      <p:sp>
        <p:nvSpPr>
          <p:cNvPr id="76493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2  </a:t>
            </a:r>
          </a:p>
          <a:p>
            <a:pPr>
              <a:buFontTx/>
              <a:buNone/>
            </a:pPr>
            <a:r>
              <a:rPr lang="en-US" altLang="zh-TW" dirty="0"/>
              <a:t>	</a:t>
            </a:r>
            <a:r>
              <a:rPr lang="zh-TW" altLang="en-US" dirty="0"/>
              <a:t>試求</a:t>
            </a:r>
            <a:r>
              <a:rPr lang="en-US" altLang="zh-TW" dirty="0">
                <a:solidFill>
                  <a:srgbClr val="C00000"/>
                </a:solidFill>
              </a:rPr>
              <a:t>AQL=1.5%</a:t>
            </a:r>
            <a:r>
              <a:rPr lang="zh-TW" altLang="en-US" dirty="0"/>
              <a:t>，檢驗水準為</a:t>
            </a:r>
            <a:r>
              <a:rPr lang="en-US" altLang="zh-TW" dirty="0">
                <a:solidFill>
                  <a:srgbClr val="C00000"/>
                </a:solidFill>
              </a:rPr>
              <a:t>II</a:t>
            </a:r>
            <a:r>
              <a:rPr lang="zh-TW" altLang="en-US" dirty="0"/>
              <a:t>，</a:t>
            </a:r>
            <a:r>
              <a:rPr lang="en-US" altLang="zh-TW" dirty="0"/>
              <a:t>N</a:t>
            </a:r>
            <a:r>
              <a:rPr lang="zh-TW" altLang="en-US" dirty="0"/>
              <a:t>＝</a:t>
            </a:r>
            <a:r>
              <a:rPr lang="en-US" altLang="zh-TW" dirty="0"/>
              <a:t>1500</a:t>
            </a:r>
            <a:r>
              <a:rPr lang="zh-TW" altLang="en-US" dirty="0"/>
              <a:t>之</a:t>
            </a:r>
            <a:r>
              <a:rPr lang="zh-TW" altLang="en-US" dirty="0">
                <a:solidFill>
                  <a:srgbClr val="C00000"/>
                </a:solidFill>
              </a:rPr>
              <a:t>單次嚴格</a:t>
            </a:r>
            <a:r>
              <a:rPr lang="zh-TW" altLang="en-US" dirty="0"/>
              <a:t>及</a:t>
            </a:r>
            <a:r>
              <a:rPr lang="zh-TW" altLang="en-US" dirty="0">
                <a:solidFill>
                  <a:srgbClr val="C00000"/>
                </a:solidFill>
              </a:rPr>
              <a:t>減量</a:t>
            </a:r>
            <a:r>
              <a:rPr lang="zh-TW" altLang="en-US" dirty="0"/>
              <a:t>檢驗計畫？</a:t>
            </a:r>
          </a:p>
          <a:p>
            <a:pPr>
              <a:buFontTx/>
              <a:buNone/>
            </a:pPr>
            <a:r>
              <a:rPr lang="zh-TW" altLang="en-US" dirty="0"/>
              <a:t>	</a:t>
            </a:r>
          </a:p>
          <a:p>
            <a:pPr>
              <a:buFontTx/>
              <a:buNone/>
            </a:pPr>
            <a:r>
              <a:rPr lang="zh-TW" altLang="en-US" dirty="0"/>
              <a:t>	</a:t>
            </a:r>
            <a:r>
              <a:rPr lang="zh-TW" altLang="en-US" dirty="0">
                <a:solidFill>
                  <a:srgbClr val="CC3300"/>
                </a:solidFill>
              </a:rPr>
              <a:t>解</a:t>
            </a:r>
            <a:r>
              <a:rPr lang="zh-TW" altLang="en-US" dirty="0"/>
              <a:t>：查</a:t>
            </a:r>
            <a:r>
              <a:rPr lang="zh-TW" altLang="en-US" dirty="0">
                <a:solidFill>
                  <a:srgbClr val="C00000"/>
                </a:solidFill>
              </a:rPr>
              <a:t>表</a:t>
            </a:r>
            <a:r>
              <a:rPr lang="en-US" altLang="zh-TW" dirty="0">
                <a:solidFill>
                  <a:srgbClr val="C00000"/>
                </a:solidFill>
              </a:rPr>
              <a:t>9.3</a:t>
            </a:r>
            <a:r>
              <a:rPr lang="zh-TW" altLang="en-US" dirty="0"/>
              <a:t>（</a:t>
            </a:r>
            <a:r>
              <a:rPr lang="zh-TW" altLang="en-US" dirty="0">
                <a:solidFill>
                  <a:srgbClr val="C00000"/>
                </a:solidFill>
              </a:rPr>
              <a:t>嚴格檢驗</a:t>
            </a:r>
            <a:r>
              <a:rPr lang="zh-TW" altLang="en-US" dirty="0"/>
              <a:t>）得 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r</a:t>
            </a:r>
            <a:r>
              <a:rPr lang="en-US" altLang="zh-TW" dirty="0"/>
              <a:t>)=(125, 3, 4)</a:t>
            </a:r>
            <a:r>
              <a:rPr lang="zh-TW" altLang="en-US" dirty="0"/>
              <a:t>，查</a:t>
            </a:r>
            <a:r>
              <a:rPr lang="zh-TW" altLang="en-US" dirty="0">
                <a:solidFill>
                  <a:srgbClr val="C00000"/>
                </a:solidFill>
              </a:rPr>
              <a:t>表</a:t>
            </a:r>
            <a:r>
              <a:rPr lang="en-US" altLang="zh-TW" dirty="0">
                <a:solidFill>
                  <a:srgbClr val="C00000"/>
                </a:solidFill>
              </a:rPr>
              <a:t>9.4 </a:t>
            </a:r>
            <a:r>
              <a:rPr lang="zh-TW" altLang="en-US" dirty="0"/>
              <a:t>（減量檢驗）得 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r</a:t>
            </a:r>
            <a:r>
              <a:rPr lang="en-US" altLang="zh-TW" dirty="0"/>
              <a:t>)=(50, 2, 5</a:t>
            </a:r>
            <a:r>
              <a:rPr lang="en-US" altLang="zh-TW" dirty="0" smtClean="0"/>
              <a:t>)</a:t>
            </a:r>
          </a:p>
          <a:p>
            <a:pPr>
              <a:buFontTx/>
              <a:buNone/>
            </a:pPr>
            <a:endParaRPr lang="en-US" altLang="zh-TW" dirty="0" smtClean="0"/>
          </a:p>
          <a:p>
            <a:pPr>
              <a:buFontTx/>
              <a:buNone/>
            </a:pPr>
            <a:r>
              <a:rPr lang="en-US" altLang="zh-TW" sz="2400" dirty="0" smtClean="0"/>
              <a:t>See tables in textbook!</a:t>
            </a:r>
            <a:endParaRPr lang="en-US" altLang="zh-TW" sz="2400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B5990CDB-1E11-4F4C-9E1E-73AD7C3C58AE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7465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</a:t>
            </a:r>
            <a:r>
              <a:rPr lang="en-US" altLang="zh-TW">
                <a:latin typeface="標楷體" pitchFamily="65" charset="-120"/>
              </a:rPr>
              <a:t>――</a:t>
            </a:r>
            <a:r>
              <a:rPr lang="zh-TW" altLang="en-US"/>
              <a:t>雙次抽樣檢驗計畫 </a:t>
            </a:r>
            <a:r>
              <a:rPr lang="en-US" altLang="zh-TW" sz="1600"/>
              <a:t>1/4</a:t>
            </a:r>
          </a:p>
        </p:txBody>
      </p:sp>
      <p:sp>
        <p:nvSpPr>
          <p:cNvPr id="74650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3</a:t>
            </a:r>
            <a:r>
              <a:rPr lang="zh-TW" altLang="en-US" dirty="0"/>
              <a:t>：</a:t>
            </a:r>
          </a:p>
          <a:p>
            <a:pPr>
              <a:buFontTx/>
              <a:buNone/>
            </a:pPr>
            <a:r>
              <a:rPr lang="zh-TW" altLang="en-US" dirty="0"/>
              <a:t>	試求</a:t>
            </a:r>
            <a:r>
              <a:rPr lang="en-US" altLang="zh-TW" dirty="0">
                <a:solidFill>
                  <a:srgbClr val="C00000"/>
                </a:solidFill>
              </a:rPr>
              <a:t>AQL=1.5%</a:t>
            </a:r>
            <a:r>
              <a:rPr lang="zh-TW" altLang="en-US" dirty="0"/>
              <a:t>，檢驗水準為</a:t>
            </a:r>
            <a:r>
              <a:rPr lang="en-US" altLang="zh-TW" dirty="0">
                <a:solidFill>
                  <a:srgbClr val="C00000"/>
                </a:solidFill>
              </a:rPr>
              <a:t>II</a:t>
            </a:r>
            <a:r>
              <a:rPr lang="zh-TW" altLang="en-US" dirty="0"/>
              <a:t>，</a:t>
            </a:r>
            <a:r>
              <a:rPr lang="en-US" altLang="zh-TW" dirty="0"/>
              <a:t>N</a:t>
            </a:r>
            <a:r>
              <a:rPr lang="zh-TW" altLang="en-US" dirty="0"/>
              <a:t>＝</a:t>
            </a:r>
            <a:r>
              <a:rPr lang="en-US" altLang="zh-TW" dirty="0">
                <a:solidFill>
                  <a:srgbClr val="C00000"/>
                </a:solidFill>
              </a:rPr>
              <a:t>500</a:t>
            </a:r>
            <a:r>
              <a:rPr lang="zh-TW" altLang="en-US" dirty="0"/>
              <a:t>之</a:t>
            </a:r>
            <a:r>
              <a:rPr lang="zh-TW" altLang="en-US" dirty="0">
                <a:solidFill>
                  <a:srgbClr val="C00000"/>
                </a:solidFill>
              </a:rPr>
              <a:t>雙次抽樣計畫</a:t>
            </a:r>
            <a:r>
              <a:rPr lang="zh-TW" altLang="en-US" dirty="0"/>
              <a:t>？</a:t>
            </a:r>
          </a:p>
          <a:p>
            <a:pPr>
              <a:buFontTx/>
              <a:buNone/>
            </a:pPr>
            <a:r>
              <a:rPr lang="zh-TW" altLang="en-US" dirty="0"/>
              <a:t>	</a:t>
            </a:r>
          </a:p>
          <a:p>
            <a:pPr>
              <a:buFontTx/>
              <a:buNone/>
            </a:pPr>
            <a:r>
              <a:rPr lang="zh-TW" altLang="en-US" dirty="0"/>
              <a:t>	</a:t>
            </a:r>
            <a:r>
              <a:rPr lang="zh-TW" altLang="en-US" dirty="0">
                <a:solidFill>
                  <a:srgbClr val="CC3300"/>
                </a:solidFill>
              </a:rPr>
              <a:t>解</a:t>
            </a:r>
            <a:r>
              <a:rPr lang="zh-TW" altLang="en-US" dirty="0"/>
              <a:t>：由</a:t>
            </a:r>
            <a:r>
              <a:rPr lang="zh-TW" altLang="en-US" dirty="0">
                <a:solidFill>
                  <a:srgbClr val="C00000"/>
                </a:solidFill>
              </a:rPr>
              <a:t>表</a:t>
            </a:r>
            <a:r>
              <a:rPr lang="en-US" altLang="zh-TW" dirty="0">
                <a:solidFill>
                  <a:srgbClr val="C00000"/>
                </a:solidFill>
              </a:rPr>
              <a:t>9.5</a:t>
            </a:r>
            <a:r>
              <a:rPr lang="zh-TW" altLang="en-US" dirty="0"/>
              <a:t>（正常檢驗），吾人可求得</a:t>
            </a:r>
          </a:p>
        </p:txBody>
      </p:sp>
      <p:graphicFrame>
        <p:nvGraphicFramePr>
          <p:cNvPr id="746500" name="Object 4"/>
          <p:cNvGraphicFramePr>
            <a:graphicFrameLocks noChangeAspect="1"/>
          </p:cNvGraphicFramePr>
          <p:nvPr/>
        </p:nvGraphicFramePr>
        <p:xfrm>
          <a:off x="1800225" y="4656138"/>
          <a:ext cx="466725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525" name="Equation" r:id="rId4" imgW="1803240" imgH="482400" progId="Equation.DSMT4">
                  <p:embed/>
                </p:oleObj>
              </mc:Choice>
              <mc:Fallback>
                <p:oleObj name="Equation" r:id="rId4" imgW="180324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4656138"/>
                        <a:ext cx="466725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F2C57550-1E9F-4370-BD2D-0B8FE025C59E}" type="slidenum">
              <a:rPr lang="en-US" altLang="zh-TW"/>
              <a:pPr/>
              <a:t>13</a:t>
            </a:fld>
            <a:endParaRPr lang="en-US" altLang="zh-TW"/>
          </a:p>
        </p:txBody>
      </p:sp>
      <p:pic>
        <p:nvPicPr>
          <p:cNvPr id="7485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746125"/>
            <a:ext cx="7921625" cy="561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48553" name="Rectangle 9"/>
          <p:cNvSpPr>
            <a:spLocks noChangeArrowheads="1"/>
          </p:cNvSpPr>
          <p:nvPr/>
        </p:nvSpPr>
        <p:spPr bwMode="auto">
          <a:xfrm>
            <a:off x="3121025" y="203200"/>
            <a:ext cx="315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>
                <a:solidFill>
                  <a:schemeClr val="tx2"/>
                </a:solidFill>
              </a:rPr>
              <a:t>表  </a:t>
            </a:r>
            <a:r>
              <a:rPr lang="en-US" altLang="zh-TW">
                <a:solidFill>
                  <a:schemeClr val="tx2"/>
                </a:solidFill>
              </a:rPr>
              <a:t>9.5 </a:t>
            </a:r>
            <a:r>
              <a:rPr lang="zh-TW" altLang="en-US">
                <a:solidFill>
                  <a:schemeClr val="tx2"/>
                </a:solidFill>
              </a:rPr>
              <a:t>雙次抽樣正常檢驗主表</a:t>
            </a:r>
          </a:p>
        </p:txBody>
      </p:sp>
      <p:sp>
        <p:nvSpPr>
          <p:cNvPr id="6" name="圓角矩形 5"/>
          <p:cNvSpPr/>
          <p:nvPr/>
        </p:nvSpPr>
        <p:spPr bwMode="auto">
          <a:xfrm>
            <a:off x="657225" y="3087583"/>
            <a:ext cx="8322625" cy="252000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7" name="圓角矩形 6"/>
          <p:cNvSpPr/>
          <p:nvPr/>
        </p:nvSpPr>
        <p:spPr bwMode="auto">
          <a:xfrm rot="16200000">
            <a:off x="2539115" y="3074635"/>
            <a:ext cx="4491533" cy="260743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8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A5540EA4-AA8B-49CF-A63C-EAD5E4B3DC14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50603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</a:t>
            </a:r>
            <a:r>
              <a:rPr lang="en-US" altLang="zh-TW">
                <a:latin typeface="標楷體" pitchFamily="65" charset="-120"/>
              </a:rPr>
              <a:t>――</a:t>
            </a:r>
            <a:r>
              <a:rPr lang="zh-TW" altLang="en-US"/>
              <a:t>雙次抽樣檢驗計畫 </a:t>
            </a:r>
            <a:r>
              <a:rPr lang="en-US" altLang="zh-TW" sz="1600"/>
              <a:t>3/4</a:t>
            </a:r>
          </a:p>
        </p:txBody>
      </p:sp>
      <p:sp>
        <p:nvSpPr>
          <p:cNvPr id="750604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39725" y="1557338"/>
            <a:ext cx="8207375" cy="4807836"/>
          </a:xfrm>
        </p:spPr>
        <p:txBody>
          <a:bodyPr/>
          <a:lstStyle/>
          <a:p>
            <a:r>
              <a:rPr lang="zh-TW" altLang="en-US" sz="2400" dirty="0"/>
              <a:t>範例 </a:t>
            </a:r>
            <a:r>
              <a:rPr lang="en-US" altLang="zh-TW" sz="2400" dirty="0"/>
              <a:t>4</a:t>
            </a:r>
            <a:r>
              <a:rPr lang="zh-TW" altLang="en-US" sz="2400" dirty="0"/>
              <a:t>：</a:t>
            </a:r>
          </a:p>
          <a:p>
            <a:pPr>
              <a:buFontTx/>
              <a:buNone/>
            </a:pPr>
            <a:r>
              <a:rPr lang="zh-TW" altLang="en-US" sz="2400" dirty="0"/>
              <a:t>	上例之雙次抽樣計畫，若已知該批貨之</a:t>
            </a:r>
            <a:r>
              <a:rPr lang="zh-TW" altLang="en-US" sz="2400" dirty="0">
                <a:solidFill>
                  <a:srgbClr val="C00000"/>
                </a:solidFill>
              </a:rPr>
              <a:t>不合格率</a:t>
            </a:r>
            <a:r>
              <a:rPr lang="en-US" altLang="zh-TW" sz="2400" dirty="0">
                <a:solidFill>
                  <a:srgbClr val="C00000"/>
                </a:solidFill>
              </a:rPr>
              <a:t>=6%</a:t>
            </a:r>
            <a:r>
              <a:rPr lang="zh-TW" altLang="en-US" sz="2400" dirty="0"/>
              <a:t>，試以</a:t>
            </a:r>
            <a:r>
              <a:rPr lang="en-US" altLang="zh-TW" sz="2400" dirty="0"/>
              <a:t>Poisson</a:t>
            </a:r>
            <a:r>
              <a:rPr lang="zh-TW" altLang="en-US" sz="2400" dirty="0"/>
              <a:t>分配計算</a:t>
            </a:r>
          </a:p>
          <a:p>
            <a:pPr lvl="1"/>
            <a:r>
              <a:rPr lang="zh-TW" altLang="en-US" sz="2200" dirty="0"/>
              <a:t>第一次抽樣後，該批貨被允收之機率？</a:t>
            </a:r>
          </a:p>
          <a:p>
            <a:pPr lvl="1"/>
            <a:r>
              <a:rPr lang="zh-TW" altLang="en-US" sz="2200" dirty="0"/>
              <a:t>在第二次抽樣後，該批貨被允收之機率？</a:t>
            </a:r>
          </a:p>
          <a:p>
            <a:pPr lvl="1"/>
            <a:endParaRPr lang="zh-TW" altLang="en-US" sz="2200" dirty="0"/>
          </a:p>
          <a:p>
            <a:pPr lvl="1"/>
            <a:endParaRPr lang="zh-TW" altLang="en-US" sz="2200" dirty="0"/>
          </a:p>
          <a:p>
            <a:pPr lvl="1"/>
            <a:r>
              <a:rPr lang="zh-TW" altLang="en-US" sz="2200" dirty="0">
                <a:solidFill>
                  <a:srgbClr val="C00000"/>
                </a:solidFill>
              </a:rPr>
              <a:t>必須進行第二次抽樣之機率</a:t>
            </a:r>
            <a:r>
              <a:rPr lang="zh-TW" altLang="en-US" sz="2200" dirty="0"/>
              <a:t>？</a:t>
            </a:r>
          </a:p>
          <a:p>
            <a:pPr marL="457200" lvl="1" indent="0">
              <a:buNone/>
            </a:pPr>
            <a:r>
              <a:rPr lang="en-US" altLang="zh-TW" sz="2200" dirty="0" smtClean="0"/>
              <a:t>   (</a:t>
            </a:r>
            <a:r>
              <a:rPr lang="zh-TW" altLang="en-US" sz="2200" dirty="0" smtClean="0"/>
              <a:t>即求第一次無法決定之機率，</a:t>
            </a:r>
            <a:r>
              <a:rPr lang="zh-TW" altLang="en-US" sz="2200" dirty="0" smtClean="0">
                <a:solidFill>
                  <a:srgbClr val="C00000"/>
                </a:solidFill>
              </a:rPr>
              <a:t>不良數</a:t>
            </a:r>
            <a:r>
              <a:rPr lang="en-US" altLang="zh-TW" sz="2200" dirty="0" smtClean="0">
                <a:solidFill>
                  <a:srgbClr val="C00000"/>
                </a:solidFill>
              </a:rPr>
              <a:t>1 or 2</a:t>
            </a:r>
            <a:r>
              <a:rPr lang="en-US" altLang="zh-TW" sz="2200" dirty="0" smtClean="0"/>
              <a:t>)</a:t>
            </a:r>
          </a:p>
          <a:p>
            <a:pPr lvl="1"/>
            <a:r>
              <a:rPr lang="zh-TW" altLang="en-US" sz="2200" dirty="0" smtClean="0"/>
              <a:t>該</a:t>
            </a:r>
            <a:r>
              <a:rPr lang="zh-TW" altLang="en-US" sz="2200" dirty="0"/>
              <a:t>批貨被允收之機率？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dirty="0"/>
              <a:t>)+(</a:t>
            </a:r>
            <a:r>
              <a:rPr lang="en-US" altLang="zh-TW" sz="2200" i="1" dirty="0"/>
              <a:t>b</a:t>
            </a:r>
            <a:r>
              <a:rPr lang="en-US" altLang="zh-TW" sz="2200" dirty="0" smtClean="0"/>
              <a:t>)=0.1466+0.239=0.3856</a:t>
            </a:r>
            <a:endParaRPr lang="en-US" altLang="zh-TW" sz="2200" dirty="0"/>
          </a:p>
        </p:txBody>
      </p:sp>
      <p:graphicFrame>
        <p:nvGraphicFramePr>
          <p:cNvPr id="750596" name="Object 4"/>
          <p:cNvGraphicFramePr>
            <a:graphicFrameLocks noChangeAspect="1"/>
          </p:cNvGraphicFramePr>
          <p:nvPr/>
        </p:nvGraphicFramePr>
        <p:xfrm>
          <a:off x="6083300" y="3033713"/>
          <a:ext cx="24288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05" name="Equation" r:id="rId4" imgW="1371600" imgH="266400" progId="Equation.DSMT4">
                  <p:embed/>
                </p:oleObj>
              </mc:Choice>
              <mc:Fallback>
                <p:oleObj name="Equation" r:id="rId4" imgW="1371600" imgH="26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3033713"/>
                        <a:ext cx="242887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597" name="Object 5"/>
          <p:cNvGraphicFramePr>
            <a:graphicFrameLocks noChangeAspect="1"/>
          </p:cNvGraphicFramePr>
          <p:nvPr/>
        </p:nvGraphicFramePr>
        <p:xfrm>
          <a:off x="1200150" y="3946525"/>
          <a:ext cx="38195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06" name="Equation" r:id="rId6" imgW="2171520" imgH="444240" progId="Equation.DSMT4">
                  <p:embed/>
                </p:oleObj>
              </mc:Choice>
              <mc:Fallback>
                <p:oleObj name="Equation" r:id="rId6" imgW="217152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3946525"/>
                        <a:ext cx="381952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5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956799"/>
              </p:ext>
            </p:extLst>
          </p:nvPr>
        </p:nvGraphicFramePr>
        <p:xfrm>
          <a:off x="4907024" y="4667436"/>
          <a:ext cx="26733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07" name="Equation" r:id="rId8" imgW="1485720" imgH="431640" progId="Equation.DSMT4">
                  <p:embed/>
                </p:oleObj>
              </mc:Choice>
              <mc:Fallback>
                <p:oleObj name="Equation" r:id="rId8" imgW="148572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024" y="4667436"/>
                        <a:ext cx="26733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物件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98707"/>
              </p:ext>
            </p:extLst>
          </p:nvPr>
        </p:nvGraphicFramePr>
        <p:xfrm>
          <a:off x="6119339" y="2620300"/>
          <a:ext cx="2573400" cy="340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08" name="方程式" r:id="rId10" imgW="1536480" imgH="203040" progId="Equation.3">
                  <p:embed/>
                </p:oleObj>
              </mc:Choice>
              <mc:Fallback>
                <p:oleObj name="方程式" r:id="rId10" imgW="153648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19339" y="2620300"/>
                        <a:ext cx="2573400" cy="340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6159"/>
              </p:ext>
            </p:extLst>
          </p:nvPr>
        </p:nvGraphicFramePr>
        <p:xfrm>
          <a:off x="5287488" y="3930732"/>
          <a:ext cx="3715149" cy="766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09" name="方程式" r:id="rId12" imgW="3200400" imgH="660240" progId="Equation.3">
                  <p:embed/>
                </p:oleObj>
              </mc:Choice>
              <mc:Fallback>
                <p:oleObj name="方程式" r:id="rId12" imgW="3200400" imgH="660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87488" y="3930732"/>
                        <a:ext cx="3715149" cy="766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10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BF5095ED-DFD7-465A-8798-918DDFC1E11E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75265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</a:t>
            </a:r>
            <a:r>
              <a:rPr lang="en-US" altLang="zh-TW">
                <a:latin typeface="標楷體" pitchFamily="65" charset="-120"/>
              </a:rPr>
              <a:t>――</a:t>
            </a:r>
            <a:r>
              <a:rPr lang="zh-TW" altLang="en-US"/>
              <a:t>雙次抽樣檢驗計畫 </a:t>
            </a:r>
            <a:r>
              <a:rPr lang="en-US" altLang="zh-TW" sz="1600"/>
              <a:t>4/4</a:t>
            </a:r>
          </a:p>
        </p:txBody>
      </p:sp>
      <p:sp>
        <p:nvSpPr>
          <p:cNvPr id="752654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07375" cy="4879088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TW" altLang="en-US" sz="2400" dirty="0"/>
              <a:t>範例 </a:t>
            </a:r>
            <a:r>
              <a:rPr lang="en-US" altLang="zh-TW" sz="2400" dirty="0"/>
              <a:t>5</a:t>
            </a:r>
            <a:r>
              <a:rPr lang="zh-TW" altLang="en-US" sz="2400" dirty="0"/>
              <a:t>：</a:t>
            </a:r>
          </a:p>
          <a:p>
            <a:pPr>
              <a:lnSpc>
                <a:spcPct val="115000"/>
              </a:lnSpc>
              <a:buFontTx/>
              <a:buNone/>
            </a:pPr>
            <a:r>
              <a:rPr lang="zh-TW" altLang="en-US" sz="2400" dirty="0"/>
              <a:t>	範例</a:t>
            </a:r>
            <a:r>
              <a:rPr lang="en-US" altLang="zh-TW" sz="2400" dirty="0"/>
              <a:t>4</a:t>
            </a:r>
            <a:r>
              <a:rPr lang="zh-TW" altLang="en-US" sz="2400" dirty="0"/>
              <a:t>之雙次抽樣計畫若改為</a:t>
            </a:r>
          </a:p>
          <a:p>
            <a:pPr>
              <a:lnSpc>
                <a:spcPct val="115000"/>
              </a:lnSpc>
              <a:buFontTx/>
              <a:buNone/>
            </a:pPr>
            <a:r>
              <a:rPr lang="zh-TW" altLang="en-US" sz="2400" dirty="0"/>
              <a:t>	若該批貨之</a:t>
            </a:r>
            <a:r>
              <a:rPr lang="zh-TW" altLang="en-US" sz="2400" dirty="0">
                <a:solidFill>
                  <a:srgbClr val="C00000"/>
                </a:solidFill>
              </a:rPr>
              <a:t>不合格率</a:t>
            </a:r>
            <a:r>
              <a:rPr lang="en-US" altLang="zh-TW" sz="2400" dirty="0">
                <a:solidFill>
                  <a:srgbClr val="C00000"/>
                </a:solidFill>
              </a:rPr>
              <a:t>=6%</a:t>
            </a:r>
            <a:r>
              <a:rPr lang="zh-TW" altLang="en-US" sz="2400" dirty="0"/>
              <a:t>，試以</a:t>
            </a:r>
            <a:r>
              <a:rPr lang="en-US" altLang="zh-TW" sz="2400" dirty="0"/>
              <a:t>Poisson</a:t>
            </a:r>
            <a:r>
              <a:rPr lang="zh-TW" altLang="en-US" sz="2400" dirty="0"/>
              <a:t>分配計算</a:t>
            </a:r>
          </a:p>
          <a:p>
            <a:pPr lvl="1">
              <a:lnSpc>
                <a:spcPct val="115000"/>
              </a:lnSpc>
            </a:pPr>
            <a:endParaRPr lang="zh-TW" altLang="en-US" sz="2200" dirty="0"/>
          </a:p>
          <a:p>
            <a:pPr lvl="1">
              <a:lnSpc>
                <a:spcPct val="115000"/>
              </a:lnSpc>
            </a:pPr>
            <a:r>
              <a:rPr lang="zh-TW" altLang="en-US" sz="2200" dirty="0"/>
              <a:t>第一次抽樣後，該批貨被允收之機率？</a:t>
            </a:r>
          </a:p>
          <a:p>
            <a:pPr lvl="1">
              <a:lnSpc>
                <a:spcPct val="115000"/>
              </a:lnSpc>
            </a:pPr>
            <a:r>
              <a:rPr lang="zh-TW" altLang="en-US" sz="2200" dirty="0"/>
              <a:t>在第二次抽樣後，該批貨被允收之機率？</a:t>
            </a:r>
          </a:p>
          <a:p>
            <a:pPr lvl="1">
              <a:lnSpc>
                <a:spcPct val="115000"/>
              </a:lnSpc>
            </a:pPr>
            <a:endParaRPr lang="zh-TW" altLang="en-US" sz="2200" dirty="0"/>
          </a:p>
          <a:p>
            <a:pPr lvl="1">
              <a:lnSpc>
                <a:spcPct val="115000"/>
              </a:lnSpc>
            </a:pPr>
            <a:endParaRPr lang="zh-TW" altLang="en-US" sz="2200" dirty="0"/>
          </a:p>
          <a:p>
            <a:pPr lvl="1">
              <a:lnSpc>
                <a:spcPct val="115000"/>
              </a:lnSpc>
            </a:pPr>
            <a:r>
              <a:rPr lang="zh-TW" altLang="en-US" sz="2200" dirty="0"/>
              <a:t>必須進行第二次抽樣之機率？</a:t>
            </a:r>
          </a:p>
          <a:p>
            <a:pPr lvl="1">
              <a:lnSpc>
                <a:spcPct val="115000"/>
              </a:lnSpc>
            </a:pPr>
            <a:r>
              <a:rPr lang="zh-TW" altLang="en-US" sz="2200" dirty="0"/>
              <a:t>該批貨被允收之機率？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dirty="0"/>
              <a:t>)+(</a:t>
            </a:r>
            <a:r>
              <a:rPr lang="en-US" altLang="zh-TW" sz="2200" i="1" dirty="0"/>
              <a:t>b</a:t>
            </a:r>
            <a:r>
              <a:rPr lang="en-US" altLang="zh-TW" sz="2200" dirty="0"/>
              <a:t>)=0.704</a:t>
            </a:r>
          </a:p>
        </p:txBody>
      </p:sp>
      <p:graphicFrame>
        <p:nvGraphicFramePr>
          <p:cNvPr id="752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462247"/>
              </p:ext>
            </p:extLst>
          </p:nvPr>
        </p:nvGraphicFramePr>
        <p:xfrm>
          <a:off x="5035653" y="1670215"/>
          <a:ext cx="30464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765" name="Equation" r:id="rId4" imgW="1549080" imgH="482400" progId="Equation.DSMT4">
                  <p:embed/>
                </p:oleObj>
              </mc:Choice>
              <mc:Fallback>
                <p:oleObj name="Equation" r:id="rId4" imgW="15490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653" y="1670215"/>
                        <a:ext cx="3046412" cy="8239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5" name="Object 5"/>
          <p:cNvGraphicFramePr>
            <a:graphicFrameLocks noChangeAspect="1"/>
          </p:cNvGraphicFramePr>
          <p:nvPr/>
        </p:nvGraphicFramePr>
        <p:xfrm>
          <a:off x="6230938" y="3489325"/>
          <a:ext cx="14620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766" name="Equation" r:id="rId6" imgW="825480" imgH="253800" progId="Equation.DSMT4">
                  <p:embed/>
                </p:oleObj>
              </mc:Choice>
              <mc:Fallback>
                <p:oleObj name="Equation" r:id="rId6" imgW="825480" imgH="253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3489325"/>
                        <a:ext cx="14620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6" name="Object 6"/>
          <p:cNvGraphicFramePr>
            <a:graphicFrameLocks noChangeAspect="1"/>
          </p:cNvGraphicFramePr>
          <p:nvPr/>
        </p:nvGraphicFramePr>
        <p:xfrm>
          <a:off x="1335088" y="4368800"/>
          <a:ext cx="3573462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767" name="Equation" r:id="rId8" imgW="2031840" imgH="444240" progId="Equation.DSMT4">
                  <p:embed/>
                </p:oleObj>
              </mc:Choice>
              <mc:Fallback>
                <p:oleObj name="Equation" r:id="rId8" imgW="203184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4368800"/>
                        <a:ext cx="3573462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337967"/>
              </p:ext>
            </p:extLst>
          </p:nvPr>
        </p:nvGraphicFramePr>
        <p:xfrm>
          <a:off x="4983163" y="5107235"/>
          <a:ext cx="21145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768" name="Equation" r:id="rId10" imgW="1295280" imgH="431640" progId="Equation.DSMT4">
                  <p:embed/>
                </p:oleObj>
              </mc:Choice>
              <mc:Fallback>
                <p:oleObj name="Equation" r:id="rId10" imgW="129528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3163" y="5107235"/>
                        <a:ext cx="211455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9" name="Object 9"/>
          <p:cNvGraphicFramePr>
            <a:graphicFrameLocks noChangeAspect="1"/>
          </p:cNvGraphicFramePr>
          <p:nvPr/>
        </p:nvGraphicFramePr>
        <p:xfrm>
          <a:off x="936625" y="3044825"/>
          <a:ext cx="36210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769" name="Equation" r:id="rId12" imgW="1815840" imgH="228600" progId="Equation.DSMT4">
                  <p:embed/>
                </p:oleObj>
              </mc:Choice>
              <mc:Fallback>
                <p:oleObj name="Equation" r:id="rId12" imgW="181584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3044825"/>
                        <a:ext cx="36210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4C51E4B9-DF81-4C93-BE01-861A8F5765C8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7546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MIL-STD-105E</a:t>
            </a:r>
            <a:r>
              <a:rPr lang="zh-TW" altLang="en-US"/>
              <a:t>的轉換法則 </a:t>
            </a:r>
            <a:r>
              <a:rPr lang="en-US" altLang="zh-TW" sz="1600"/>
              <a:t>1/6</a:t>
            </a:r>
          </a:p>
        </p:txBody>
      </p:sp>
      <p:sp>
        <p:nvSpPr>
          <p:cNvPr id="75469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廠商在執行</a:t>
            </a:r>
            <a:r>
              <a:rPr lang="en-US" altLang="zh-TW" dirty="0"/>
              <a:t>105E</a:t>
            </a:r>
            <a:r>
              <a:rPr lang="zh-TW" altLang="en-US" dirty="0"/>
              <a:t>抽樣檢驗之計畫過程中，應針對</a:t>
            </a:r>
            <a:r>
              <a:rPr lang="zh-TW" altLang="en-US" dirty="0" smtClean="0">
                <a:solidFill>
                  <a:srgbClr val="C00000"/>
                </a:solidFill>
              </a:rPr>
              <a:t>過去檢驗</a:t>
            </a:r>
            <a:r>
              <a:rPr lang="zh-TW" altLang="en-US" dirty="0">
                <a:solidFill>
                  <a:srgbClr val="C00000"/>
                </a:solidFill>
              </a:rPr>
              <a:t>記錄建檔</a:t>
            </a:r>
            <a:r>
              <a:rPr lang="zh-TW" altLang="en-US" dirty="0"/>
              <a:t>，作為</a:t>
            </a:r>
            <a:r>
              <a:rPr lang="zh-TW" altLang="en-US" dirty="0">
                <a:solidFill>
                  <a:srgbClr val="C00000"/>
                </a:solidFill>
              </a:rPr>
              <a:t>決定未來抽樣方式之參考</a:t>
            </a:r>
            <a:r>
              <a:rPr lang="zh-TW" altLang="en-US" dirty="0"/>
              <a:t>。特別是進行</a:t>
            </a:r>
            <a:r>
              <a:rPr lang="zh-TW" altLang="en-US" dirty="0">
                <a:solidFill>
                  <a:srgbClr val="C00000"/>
                </a:solidFill>
              </a:rPr>
              <a:t>供應廠商評鑑</a:t>
            </a:r>
            <a:r>
              <a:rPr lang="zh-TW" altLang="en-US" dirty="0"/>
              <a:t>時</a:t>
            </a:r>
            <a:r>
              <a:rPr lang="zh-TW" altLang="en-US" dirty="0" smtClean="0"/>
              <a:t>，應</a:t>
            </a:r>
            <a:r>
              <a:rPr lang="zh-TW" altLang="en-US" dirty="0"/>
              <a:t>依其過去表現而決定採取</a:t>
            </a:r>
            <a:r>
              <a:rPr lang="zh-TW" altLang="en-US" dirty="0">
                <a:solidFill>
                  <a:srgbClr val="C00000"/>
                </a:solidFill>
              </a:rPr>
              <a:t>嚴格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rgbClr val="C00000"/>
                </a:solidFill>
              </a:rPr>
              <a:t>減量檢驗</a:t>
            </a:r>
            <a:r>
              <a:rPr lang="zh-TW" altLang="en-US" dirty="0"/>
              <a:t>的方式。這對表現好的供應商有一種</a:t>
            </a:r>
            <a:r>
              <a:rPr lang="zh-TW" altLang="en-US" dirty="0">
                <a:solidFill>
                  <a:srgbClr val="C00000"/>
                </a:solidFill>
              </a:rPr>
              <a:t>鼓勵作用</a:t>
            </a:r>
            <a:r>
              <a:rPr lang="zh-TW" altLang="en-US" dirty="0"/>
              <a:t>，而對表現差的供應商則具</a:t>
            </a:r>
            <a:r>
              <a:rPr lang="zh-TW" altLang="en-US" dirty="0">
                <a:solidFill>
                  <a:srgbClr val="C00000"/>
                </a:solidFill>
              </a:rPr>
              <a:t>警示作用</a:t>
            </a:r>
            <a:r>
              <a:rPr lang="zh-TW" altLang="en-US" dirty="0"/>
              <a:t>。實施</a:t>
            </a:r>
            <a:r>
              <a:rPr lang="en-US" altLang="zh-TW" dirty="0"/>
              <a:t>105E</a:t>
            </a:r>
            <a:r>
              <a:rPr lang="zh-TW" altLang="en-US" dirty="0"/>
              <a:t>過程中的轉換機制如圖</a:t>
            </a:r>
            <a:r>
              <a:rPr lang="en-US" altLang="zh-TW" dirty="0"/>
              <a:t>9.2</a:t>
            </a:r>
            <a:r>
              <a:rPr lang="zh-TW" altLang="en-US" dirty="0"/>
              <a:t>所示，現詳細說明如下：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75F5BE9C-F143-498D-B435-3E449297B3AF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MIL-STD-105E</a:t>
            </a:r>
            <a:r>
              <a:rPr lang="zh-TW" altLang="en-US"/>
              <a:t>的轉換法則 </a:t>
            </a:r>
            <a:r>
              <a:rPr lang="en-US" altLang="zh-TW" sz="1600"/>
              <a:t>2/6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TW" altLang="en-US" sz="2800" dirty="0">
                <a:solidFill>
                  <a:srgbClr val="C00000"/>
                </a:solidFill>
              </a:rPr>
              <a:t>正常→嚴格</a:t>
            </a:r>
          </a:p>
          <a:p>
            <a:pPr lvl="1">
              <a:buFontTx/>
              <a:buNone/>
            </a:pPr>
            <a:r>
              <a:rPr lang="zh-TW" altLang="en-US" sz="2800" dirty="0"/>
              <a:t>	處於</a:t>
            </a:r>
            <a:r>
              <a:rPr lang="zh-TW" altLang="en-US" sz="2800" dirty="0">
                <a:solidFill>
                  <a:srgbClr val="C00000"/>
                </a:solidFill>
              </a:rPr>
              <a:t>正常檢驗</a:t>
            </a:r>
            <a:r>
              <a:rPr lang="zh-TW" altLang="en-US" sz="2800" dirty="0"/>
              <a:t>的供應商，若在</a:t>
            </a:r>
            <a:r>
              <a:rPr lang="zh-TW" altLang="en-US" sz="2800" dirty="0">
                <a:solidFill>
                  <a:srgbClr val="C00000"/>
                </a:solidFill>
              </a:rPr>
              <a:t>連續</a:t>
            </a:r>
            <a:r>
              <a:rPr lang="en-US" altLang="zh-TW" sz="2800" dirty="0">
                <a:solidFill>
                  <a:srgbClr val="C00000"/>
                </a:solidFill>
              </a:rPr>
              <a:t>5</a:t>
            </a:r>
            <a:r>
              <a:rPr lang="zh-TW" altLang="en-US" sz="2800" dirty="0">
                <a:solidFill>
                  <a:srgbClr val="C00000"/>
                </a:solidFill>
              </a:rPr>
              <a:t>個批量中有</a:t>
            </a:r>
            <a:r>
              <a:rPr lang="en-US" altLang="zh-TW" sz="2800" dirty="0">
                <a:solidFill>
                  <a:srgbClr val="C00000"/>
                </a:solidFill>
              </a:rPr>
              <a:t>2</a:t>
            </a:r>
            <a:r>
              <a:rPr lang="zh-TW" altLang="en-US" sz="2800" dirty="0">
                <a:solidFill>
                  <a:srgbClr val="C00000"/>
                </a:solidFill>
              </a:rPr>
              <a:t>個被拒收</a:t>
            </a:r>
            <a:r>
              <a:rPr lang="zh-TW" altLang="en-US" sz="2800" dirty="0"/>
              <a:t>，則應轉換至</a:t>
            </a:r>
            <a:r>
              <a:rPr lang="zh-TW" altLang="en-US" sz="2800" dirty="0">
                <a:solidFill>
                  <a:srgbClr val="C00000"/>
                </a:solidFill>
              </a:rPr>
              <a:t>嚴格檢</a:t>
            </a:r>
            <a:r>
              <a:rPr lang="zh-TW" altLang="en-US" sz="2800" dirty="0"/>
              <a:t>驗。</a:t>
            </a:r>
          </a:p>
          <a:p>
            <a:pPr lvl="1"/>
            <a:r>
              <a:rPr lang="zh-TW" altLang="en-US" sz="2800" dirty="0">
                <a:solidFill>
                  <a:srgbClr val="C00000"/>
                </a:solidFill>
              </a:rPr>
              <a:t>嚴格→正常</a:t>
            </a:r>
          </a:p>
          <a:p>
            <a:pPr lvl="1">
              <a:buFontTx/>
              <a:buNone/>
            </a:pPr>
            <a:r>
              <a:rPr lang="zh-TW" altLang="en-US" sz="2800" dirty="0"/>
              <a:t>	處於</a:t>
            </a:r>
            <a:r>
              <a:rPr lang="zh-TW" altLang="en-US" sz="2800" dirty="0">
                <a:solidFill>
                  <a:srgbClr val="C00000"/>
                </a:solidFill>
              </a:rPr>
              <a:t>嚴格檢驗</a:t>
            </a:r>
            <a:r>
              <a:rPr lang="zh-TW" altLang="en-US" sz="2800" dirty="0"/>
              <a:t>的供應商，若</a:t>
            </a:r>
            <a:r>
              <a:rPr lang="zh-TW" altLang="en-US" sz="2800" dirty="0">
                <a:solidFill>
                  <a:srgbClr val="C00000"/>
                </a:solidFill>
              </a:rPr>
              <a:t>連續</a:t>
            </a:r>
            <a:r>
              <a:rPr lang="en-US" altLang="zh-TW" sz="2800" dirty="0">
                <a:solidFill>
                  <a:srgbClr val="C00000"/>
                </a:solidFill>
              </a:rPr>
              <a:t>5</a:t>
            </a:r>
            <a:r>
              <a:rPr lang="zh-TW" altLang="en-US" sz="2800" dirty="0">
                <a:solidFill>
                  <a:srgbClr val="C00000"/>
                </a:solidFill>
              </a:rPr>
              <a:t>個批量均被允收</a:t>
            </a:r>
            <a:r>
              <a:rPr lang="zh-TW" altLang="en-US" sz="2800" dirty="0"/>
              <a:t>，則應轉換至</a:t>
            </a:r>
            <a:r>
              <a:rPr lang="zh-TW" altLang="en-US" sz="2800" dirty="0">
                <a:solidFill>
                  <a:srgbClr val="C00000"/>
                </a:solidFill>
              </a:rPr>
              <a:t>正常檢驗</a:t>
            </a:r>
            <a:r>
              <a:rPr lang="zh-TW" altLang="en-US" sz="28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7B7E7A02-27C1-4FA8-9617-9F1EDFB46D04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7567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MIL-STD-105E</a:t>
            </a:r>
            <a:r>
              <a:rPr lang="zh-TW" altLang="en-US"/>
              <a:t>的轉換法則 </a:t>
            </a:r>
            <a:r>
              <a:rPr lang="en-US" altLang="zh-TW" sz="1600"/>
              <a:t>3/6</a:t>
            </a:r>
          </a:p>
        </p:txBody>
      </p:sp>
      <p:sp>
        <p:nvSpPr>
          <p:cNvPr id="75674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TW" altLang="en-US" sz="2800" dirty="0">
                <a:solidFill>
                  <a:srgbClr val="C00000"/>
                </a:solidFill>
              </a:rPr>
              <a:t>正常→減量</a:t>
            </a:r>
          </a:p>
          <a:p>
            <a:pPr lvl="1">
              <a:buFontTx/>
              <a:buNone/>
            </a:pPr>
            <a:r>
              <a:rPr lang="zh-TW" altLang="en-US" sz="2800" dirty="0"/>
              <a:t>	處於</a:t>
            </a:r>
            <a:r>
              <a:rPr lang="zh-TW" altLang="en-US" sz="2800" dirty="0">
                <a:solidFill>
                  <a:srgbClr val="C00000"/>
                </a:solidFill>
              </a:rPr>
              <a:t>正常檢驗</a:t>
            </a:r>
            <a:r>
              <a:rPr lang="zh-TW" altLang="en-US" sz="2800" dirty="0"/>
              <a:t>的供應商，若</a:t>
            </a:r>
            <a:r>
              <a:rPr lang="zh-TW" altLang="en-US" sz="2800" dirty="0">
                <a:solidFill>
                  <a:srgbClr val="C00000"/>
                </a:solidFill>
              </a:rPr>
              <a:t>符合下列各條件</a:t>
            </a:r>
            <a:r>
              <a:rPr lang="zh-TW" altLang="en-US" sz="2800" dirty="0"/>
              <a:t>，則可</a:t>
            </a:r>
            <a:r>
              <a:rPr lang="zh-TW" altLang="en-US" sz="2800" dirty="0">
                <a:solidFill>
                  <a:srgbClr val="C00000"/>
                </a:solidFill>
              </a:rPr>
              <a:t>轉換成減量檢驗</a:t>
            </a:r>
            <a:r>
              <a:rPr lang="zh-TW" altLang="en-US" sz="2800" dirty="0"/>
              <a:t>：</a:t>
            </a:r>
          </a:p>
          <a:p>
            <a:pPr lvl="2"/>
            <a:r>
              <a:rPr lang="zh-TW" altLang="en-US" sz="2800" dirty="0">
                <a:solidFill>
                  <a:srgbClr val="C00000"/>
                </a:solidFill>
              </a:rPr>
              <a:t>製程穩定</a:t>
            </a:r>
            <a:r>
              <a:rPr lang="zh-TW" altLang="en-US" sz="2800" dirty="0"/>
              <a:t>，無機器故障、缺料或其他問題發生。</a:t>
            </a:r>
          </a:p>
          <a:p>
            <a:pPr lvl="2"/>
            <a:r>
              <a:rPr lang="zh-TW" altLang="en-US" sz="2800" dirty="0"/>
              <a:t>最近</a:t>
            </a:r>
            <a:r>
              <a:rPr lang="zh-TW" altLang="en-US" sz="2800" dirty="0">
                <a:solidFill>
                  <a:srgbClr val="C00000"/>
                </a:solidFill>
              </a:rPr>
              <a:t>連續</a:t>
            </a:r>
            <a:r>
              <a:rPr lang="en-US" altLang="zh-TW" sz="2800" dirty="0">
                <a:solidFill>
                  <a:srgbClr val="C00000"/>
                </a:solidFill>
              </a:rPr>
              <a:t>10</a:t>
            </a:r>
            <a:r>
              <a:rPr lang="zh-TW" altLang="en-US" sz="2800" dirty="0">
                <a:solidFill>
                  <a:srgbClr val="C00000"/>
                </a:solidFill>
              </a:rPr>
              <a:t>個批量均被接受</a:t>
            </a:r>
            <a:r>
              <a:rPr lang="zh-TW" altLang="en-US" sz="2800" dirty="0"/>
              <a:t>。</a:t>
            </a:r>
          </a:p>
          <a:p>
            <a:pPr lvl="2"/>
            <a:r>
              <a:rPr lang="zh-TW" altLang="en-US" sz="2800" dirty="0"/>
              <a:t>經過</a:t>
            </a:r>
            <a:r>
              <a:rPr lang="zh-TW" altLang="en-US" sz="2800" dirty="0">
                <a:solidFill>
                  <a:srgbClr val="C00000"/>
                </a:solidFill>
              </a:rPr>
              <a:t>主管單位批准</a:t>
            </a:r>
            <a:r>
              <a:rPr lang="zh-TW" altLang="en-US" sz="2800" dirty="0"/>
              <a:t>，認為</a:t>
            </a:r>
            <a:r>
              <a:rPr lang="zh-TW" altLang="en-US" sz="2800" dirty="0">
                <a:solidFill>
                  <a:srgbClr val="C00000"/>
                </a:solidFill>
              </a:rPr>
              <a:t>各項條件均符合</a:t>
            </a:r>
            <a:r>
              <a:rPr lang="zh-TW" altLang="en-US" sz="2800" dirty="0"/>
              <a:t>時。</a:t>
            </a:r>
          </a:p>
          <a:p>
            <a:pPr lvl="1"/>
            <a:endParaRPr lang="en-US" altLang="zh-TW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5478D6CB-249D-4513-B92E-E3A257CB8D30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MIL-STD-105E</a:t>
            </a:r>
            <a:r>
              <a:rPr lang="zh-TW" altLang="en-US"/>
              <a:t>的轉換法則 </a:t>
            </a:r>
            <a:r>
              <a:rPr lang="en-US" altLang="zh-TW" sz="1600"/>
              <a:t>4/6</a:t>
            </a:r>
          </a:p>
        </p:txBody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0812" y="1450460"/>
            <a:ext cx="8556933" cy="4865687"/>
          </a:xfrm>
        </p:spPr>
        <p:txBody>
          <a:bodyPr/>
          <a:lstStyle/>
          <a:p>
            <a:pPr lvl="1">
              <a:lnSpc>
                <a:spcPct val="110000"/>
              </a:lnSpc>
            </a:pPr>
            <a:r>
              <a:rPr lang="zh-TW" altLang="en-US" dirty="0">
                <a:solidFill>
                  <a:srgbClr val="C00000"/>
                </a:solidFill>
              </a:rPr>
              <a:t>減量→正常</a:t>
            </a:r>
          </a:p>
          <a:p>
            <a:pPr lvl="2">
              <a:lnSpc>
                <a:spcPct val="110000"/>
              </a:lnSpc>
            </a:pPr>
            <a:r>
              <a:rPr lang="zh-TW" altLang="en-US" dirty="0">
                <a:solidFill>
                  <a:srgbClr val="C00000"/>
                </a:solidFill>
              </a:rPr>
              <a:t>只要有一個批量被拒收</a:t>
            </a:r>
            <a:r>
              <a:rPr lang="zh-TW" altLang="en-US" dirty="0"/>
              <a:t>。</a:t>
            </a:r>
          </a:p>
          <a:p>
            <a:pPr lvl="2">
              <a:lnSpc>
                <a:spcPct val="110000"/>
              </a:lnSpc>
            </a:pPr>
            <a:r>
              <a:rPr lang="zh-TW" altLang="en-US" dirty="0"/>
              <a:t>生產</a:t>
            </a:r>
            <a:r>
              <a:rPr lang="zh-TW" altLang="en-US" dirty="0">
                <a:solidFill>
                  <a:srgbClr val="C00000"/>
                </a:solidFill>
              </a:rPr>
              <a:t>不穩定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rgbClr val="C00000"/>
                </a:solidFill>
              </a:rPr>
              <a:t>被延誤</a:t>
            </a:r>
            <a:r>
              <a:rPr lang="zh-TW" altLang="en-US" dirty="0"/>
              <a:t>時。</a:t>
            </a:r>
          </a:p>
          <a:p>
            <a:pPr lvl="2">
              <a:lnSpc>
                <a:spcPct val="110000"/>
              </a:lnSpc>
            </a:pPr>
            <a:r>
              <a:rPr lang="zh-TW" altLang="en-US" dirty="0"/>
              <a:t>產品品質變差，</a:t>
            </a:r>
            <a:r>
              <a:rPr lang="zh-TW" altLang="en-US" dirty="0">
                <a:solidFill>
                  <a:srgbClr val="C00000"/>
                </a:solidFill>
              </a:rPr>
              <a:t>無法判定批量允收或拒收</a:t>
            </a:r>
            <a:r>
              <a:rPr lang="zh-TW" altLang="en-US" dirty="0"/>
              <a:t>時（如範例</a:t>
            </a:r>
            <a:r>
              <a:rPr lang="en-US" altLang="zh-TW" dirty="0"/>
              <a:t>2</a:t>
            </a:r>
            <a:r>
              <a:rPr lang="zh-TW" altLang="en-US" dirty="0"/>
              <a:t>單次減量抽樣計畫中第一次抽樣之不良品數</a:t>
            </a:r>
            <a:r>
              <a:rPr lang="en-US" altLang="zh-TW" i="1" dirty="0"/>
              <a:t>X</a:t>
            </a:r>
            <a:r>
              <a:rPr lang="en-US" altLang="zh-TW" baseline="-25000" dirty="0"/>
              <a:t>1</a:t>
            </a:r>
            <a:r>
              <a:rPr lang="en-US" altLang="zh-TW" dirty="0"/>
              <a:t>=3</a:t>
            </a:r>
            <a:r>
              <a:rPr lang="zh-TW" altLang="en-US" dirty="0"/>
              <a:t>或</a:t>
            </a:r>
            <a:r>
              <a:rPr lang="en-US" altLang="zh-TW" dirty="0"/>
              <a:t>4</a:t>
            </a:r>
            <a:r>
              <a:rPr lang="zh-TW" altLang="en-US" dirty="0"/>
              <a:t>時，</a:t>
            </a:r>
            <a:r>
              <a:rPr lang="zh-TW" altLang="en-US" dirty="0">
                <a:solidFill>
                  <a:srgbClr val="C00000"/>
                </a:solidFill>
              </a:rPr>
              <a:t>無法決定是否允收</a:t>
            </a:r>
            <a:r>
              <a:rPr lang="zh-TW" altLang="en-US" dirty="0"/>
              <a:t>，即需考慮</a:t>
            </a:r>
            <a:r>
              <a:rPr lang="zh-TW" altLang="en-US" dirty="0">
                <a:solidFill>
                  <a:srgbClr val="C00000"/>
                </a:solidFill>
              </a:rPr>
              <a:t>轉換至正常檢驗</a:t>
            </a:r>
            <a:r>
              <a:rPr lang="zh-TW" altLang="en-US" dirty="0"/>
              <a:t>）。</a:t>
            </a:r>
          </a:p>
          <a:p>
            <a:pPr lvl="2">
              <a:lnSpc>
                <a:spcPct val="110000"/>
              </a:lnSpc>
            </a:pPr>
            <a:r>
              <a:rPr lang="zh-TW" altLang="en-US" dirty="0"/>
              <a:t>其他製程條件改變－只要製造方法、人員、材料、機器等條件中</a:t>
            </a:r>
            <a:r>
              <a:rPr lang="zh-TW" altLang="en-US" dirty="0">
                <a:solidFill>
                  <a:srgbClr val="C00000"/>
                </a:solidFill>
              </a:rPr>
              <a:t>有一項改變</a:t>
            </a:r>
            <a:r>
              <a:rPr lang="zh-TW" altLang="en-US" dirty="0"/>
              <a:t>時，即需轉換至正常檢驗。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69B8DF63-1895-44C0-B5D3-13FC336C39D4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MIL-STD-105E</a:t>
            </a:r>
            <a:r>
              <a:rPr lang="zh-TW" altLang="en-US"/>
              <a:t>的轉換法則 </a:t>
            </a:r>
            <a:r>
              <a:rPr lang="en-US" altLang="zh-TW" sz="1600"/>
              <a:t>5/6</a:t>
            </a:r>
          </a:p>
        </p:txBody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TW" altLang="en-US" sz="2800" dirty="0">
                <a:solidFill>
                  <a:srgbClr val="C00000"/>
                </a:solidFill>
              </a:rPr>
              <a:t>停止檢驗</a:t>
            </a:r>
          </a:p>
          <a:p>
            <a:pPr lvl="1">
              <a:buFontTx/>
              <a:buNone/>
            </a:pPr>
            <a:r>
              <a:rPr lang="zh-TW" altLang="en-US" sz="2800" dirty="0"/>
              <a:t>	若</a:t>
            </a:r>
            <a:r>
              <a:rPr lang="zh-TW" altLang="en-US" sz="2800" dirty="0">
                <a:solidFill>
                  <a:srgbClr val="C00000"/>
                </a:solidFill>
              </a:rPr>
              <a:t>連續</a:t>
            </a:r>
            <a:r>
              <a:rPr lang="en-US" altLang="zh-TW" sz="2800" dirty="0">
                <a:solidFill>
                  <a:srgbClr val="C00000"/>
                </a:solidFill>
              </a:rPr>
              <a:t>10</a:t>
            </a:r>
            <a:r>
              <a:rPr lang="zh-TW" altLang="en-US" sz="2800" dirty="0">
                <a:solidFill>
                  <a:srgbClr val="C00000"/>
                </a:solidFill>
              </a:rPr>
              <a:t>個批量均處於嚴格檢驗</a:t>
            </a:r>
            <a:r>
              <a:rPr lang="zh-TW" altLang="en-US" sz="2800" dirty="0"/>
              <a:t>，即表示</a:t>
            </a:r>
            <a:r>
              <a:rPr lang="zh-TW" altLang="en-US" sz="2800" dirty="0">
                <a:solidFill>
                  <a:srgbClr val="C00000"/>
                </a:solidFill>
              </a:rPr>
              <a:t>該產品品質毫無改善的跡象</a:t>
            </a:r>
            <a:r>
              <a:rPr lang="zh-TW" altLang="en-US" sz="2800" dirty="0"/>
              <a:t>，此時即應考慮</a:t>
            </a:r>
            <a:r>
              <a:rPr lang="zh-TW" altLang="en-US" sz="2800" dirty="0">
                <a:solidFill>
                  <a:srgbClr val="C00000"/>
                </a:solidFill>
              </a:rPr>
              <a:t>終止對該供應商的採購作業</a:t>
            </a:r>
            <a:r>
              <a:rPr lang="zh-TW" altLang="en-US" sz="2800" dirty="0"/>
              <a:t>，而將其列為</a:t>
            </a:r>
            <a:r>
              <a:rPr lang="zh-TW" altLang="en-US" sz="2800" dirty="0">
                <a:solidFill>
                  <a:srgbClr val="C00000"/>
                </a:solidFill>
              </a:rPr>
              <a:t>拒絕往來</a:t>
            </a:r>
            <a:r>
              <a:rPr lang="zh-TW" altLang="en-US" sz="2800" dirty="0"/>
              <a:t>之對象。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9E48F7F6-22AD-40E6-BCB6-8B4734A0613A}" type="slidenum">
              <a:rPr lang="en-US" altLang="zh-TW"/>
              <a:pPr/>
              <a:t>21</a:t>
            </a:fld>
            <a:endParaRPr lang="en-US" altLang="zh-TW"/>
          </a:p>
        </p:txBody>
      </p:sp>
      <p:pic>
        <p:nvPicPr>
          <p:cNvPr id="75879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8" y="420688"/>
            <a:ext cx="7396162" cy="574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58794" name="Text Box 10"/>
          <p:cNvSpPr txBox="1">
            <a:spLocks noChangeArrowheads="1"/>
          </p:cNvSpPr>
          <p:nvPr/>
        </p:nvSpPr>
        <p:spPr bwMode="auto">
          <a:xfrm>
            <a:off x="2332038" y="5930900"/>
            <a:ext cx="410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/>
              <a:t>圖 </a:t>
            </a:r>
            <a:r>
              <a:rPr lang="en-US" altLang="zh-TW"/>
              <a:t>9.2  </a:t>
            </a:r>
            <a:r>
              <a:rPr lang="zh-TW" altLang="en-US"/>
              <a:t>檢驗之轉換機制</a:t>
            </a:r>
            <a:r>
              <a:rPr lang="en-US" altLang="zh-TW"/>
              <a:t>(MIL-STD-105E)</a:t>
            </a:r>
          </a:p>
        </p:txBody>
      </p:sp>
      <p:sp>
        <p:nvSpPr>
          <p:cNvPr id="2" name="橢圓 1"/>
          <p:cNvSpPr/>
          <p:nvPr/>
        </p:nvSpPr>
        <p:spPr bwMode="auto">
          <a:xfrm>
            <a:off x="4251366" y="408813"/>
            <a:ext cx="890650" cy="315582"/>
          </a:xfrm>
          <a:prstGeom prst="ellipse">
            <a:avLst/>
          </a:prstGeom>
          <a:solidFill>
            <a:srgbClr val="FF0000">
              <a:alpha val="31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 flipV="1">
            <a:off x="4892634" y="1484416"/>
            <a:ext cx="498763" cy="1009402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 bwMode="auto">
          <a:xfrm>
            <a:off x="6780810" y="1484416"/>
            <a:ext cx="475013" cy="1009402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 bwMode="auto">
          <a:xfrm flipH="1">
            <a:off x="6780810" y="3206338"/>
            <a:ext cx="475013" cy="985652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H="1" flipV="1">
            <a:off x="4892634" y="3206338"/>
            <a:ext cx="498763" cy="997527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>
            <a:off x="7255823" y="3206338"/>
            <a:ext cx="0" cy="1591293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 bwMode="auto">
          <a:xfrm>
            <a:off x="6780810" y="5930900"/>
            <a:ext cx="890650" cy="315582"/>
          </a:xfrm>
          <a:prstGeom prst="ellipse">
            <a:avLst/>
          </a:prstGeom>
          <a:solidFill>
            <a:srgbClr val="FF0000">
              <a:alpha val="31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1FD27690-1CE2-4B03-B823-73FFF49D1687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60838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8715375" cy="1143000"/>
          </a:xfrm>
        </p:spPr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>
                <a:latin typeface="標楷體" pitchFamily="65" charset="-120"/>
              </a:rPr>
              <a:t>――</a:t>
            </a:r>
            <a:r>
              <a:rPr lang="en-US" altLang="zh-TW" dirty="0"/>
              <a:t> MIL-STD-105E</a:t>
            </a:r>
            <a:r>
              <a:rPr lang="zh-TW" altLang="en-US" dirty="0"/>
              <a:t>的轉換法則 </a:t>
            </a:r>
            <a:r>
              <a:rPr lang="en-US" altLang="zh-TW" sz="1600" dirty="0"/>
              <a:t>1/3</a:t>
            </a:r>
          </a:p>
        </p:txBody>
      </p:sp>
      <p:sp>
        <p:nvSpPr>
          <p:cNvPr id="76083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6</a:t>
            </a:r>
            <a:r>
              <a:rPr lang="zh-TW" altLang="en-US" dirty="0"/>
              <a:t>：</a:t>
            </a:r>
          </a:p>
          <a:p>
            <a:pPr>
              <a:buFontTx/>
              <a:buNone/>
            </a:pPr>
            <a:r>
              <a:rPr lang="zh-TW" altLang="en-US" dirty="0"/>
              <a:t>	某產品係以</a:t>
            </a:r>
            <a:r>
              <a:rPr lang="en-US" altLang="zh-TW" dirty="0">
                <a:solidFill>
                  <a:srgbClr val="C00000"/>
                </a:solidFill>
              </a:rPr>
              <a:t>MIL-STD-105E</a:t>
            </a:r>
            <a:r>
              <a:rPr lang="zh-TW" altLang="en-US" dirty="0"/>
              <a:t>檢驗，樣本大小之</a:t>
            </a:r>
            <a:r>
              <a:rPr lang="zh-TW" altLang="en-US" dirty="0">
                <a:solidFill>
                  <a:srgbClr val="C00000"/>
                </a:solidFill>
              </a:rPr>
              <a:t>代碼為</a:t>
            </a:r>
            <a:r>
              <a:rPr lang="en-US" altLang="zh-TW" dirty="0">
                <a:solidFill>
                  <a:srgbClr val="C00000"/>
                </a:solidFill>
              </a:rPr>
              <a:t>J</a:t>
            </a:r>
            <a:r>
              <a:rPr lang="zh-TW" altLang="en-US" dirty="0"/>
              <a:t>，</a:t>
            </a:r>
            <a:r>
              <a:rPr lang="en-US" altLang="zh-TW" dirty="0">
                <a:solidFill>
                  <a:srgbClr val="C00000"/>
                </a:solidFill>
              </a:rPr>
              <a:t>AQL=1.0%</a:t>
            </a:r>
            <a:r>
              <a:rPr lang="zh-TW" altLang="en-US" dirty="0"/>
              <a:t>。若在</a:t>
            </a:r>
            <a:r>
              <a:rPr lang="zh-TW" altLang="en-US" dirty="0">
                <a:solidFill>
                  <a:srgbClr val="C00000"/>
                </a:solidFill>
              </a:rPr>
              <a:t>前</a:t>
            </a:r>
            <a:r>
              <a:rPr lang="en-US" altLang="zh-TW" dirty="0">
                <a:solidFill>
                  <a:srgbClr val="C00000"/>
                </a:solidFill>
              </a:rPr>
              <a:t>10</a:t>
            </a:r>
            <a:r>
              <a:rPr lang="zh-TW" altLang="en-US" dirty="0">
                <a:solidFill>
                  <a:srgbClr val="C00000"/>
                </a:solidFill>
              </a:rPr>
              <a:t>批</a:t>
            </a:r>
            <a:r>
              <a:rPr lang="zh-TW" altLang="en-US" dirty="0"/>
              <a:t>產品中發現之</a:t>
            </a:r>
            <a:r>
              <a:rPr lang="zh-TW" altLang="en-US" dirty="0">
                <a:solidFill>
                  <a:srgbClr val="C00000"/>
                </a:solidFill>
              </a:rPr>
              <a:t>不良品數</a:t>
            </a:r>
            <a:r>
              <a:rPr lang="en-US" altLang="zh-TW" dirty="0"/>
              <a:t>=3,1,2,3,4,0,1,1,0,1</a:t>
            </a:r>
            <a:r>
              <a:rPr lang="zh-TW" altLang="en-US" dirty="0"/>
              <a:t>。試決定</a:t>
            </a:r>
            <a:r>
              <a:rPr lang="zh-TW" altLang="en-US" dirty="0">
                <a:solidFill>
                  <a:srgbClr val="C00000"/>
                </a:solidFill>
              </a:rPr>
              <a:t>各次抽樣後</a:t>
            </a:r>
            <a:r>
              <a:rPr lang="zh-TW" altLang="en-US" dirty="0"/>
              <a:t>，該採取</a:t>
            </a:r>
            <a:r>
              <a:rPr lang="zh-TW" altLang="en-US" dirty="0">
                <a:solidFill>
                  <a:srgbClr val="C00000"/>
                </a:solidFill>
              </a:rPr>
              <a:t>何種檢驗方式</a:t>
            </a:r>
            <a:r>
              <a:rPr lang="zh-TW" altLang="en-US" dirty="0"/>
              <a:t>（以</a:t>
            </a:r>
            <a:r>
              <a:rPr lang="en-US" altLang="zh-TW" dirty="0">
                <a:solidFill>
                  <a:srgbClr val="C00000"/>
                </a:solidFill>
              </a:rPr>
              <a:t>N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C00000"/>
                </a:solidFill>
              </a:rPr>
              <a:t>R</a:t>
            </a:r>
            <a:r>
              <a:rPr lang="en-US" altLang="zh-TW" dirty="0"/>
              <a:t>,</a:t>
            </a:r>
            <a:r>
              <a:rPr lang="zh-TW" altLang="en-US" dirty="0"/>
              <a:t>或</a:t>
            </a:r>
            <a:r>
              <a:rPr lang="en-US" altLang="zh-TW" dirty="0">
                <a:solidFill>
                  <a:srgbClr val="C00000"/>
                </a:solidFill>
              </a:rPr>
              <a:t>T</a:t>
            </a:r>
            <a:r>
              <a:rPr lang="zh-TW" altLang="en-US" dirty="0"/>
              <a:t>表正常，減量與嚴格檢驗）進行檢驗？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MIL-STD-105E</a:t>
            </a:r>
            <a:r>
              <a:rPr lang="zh-TW" altLang="en-US" dirty="0"/>
              <a:t>的轉換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 smtClean="0"/>
              <a:t>品質管理：理論與實務　</a:t>
            </a:r>
            <a:r>
              <a:rPr lang="en-US" altLang="zh-TW" smtClean="0"/>
              <a:t>chapter 9</a:t>
            </a:r>
            <a:r>
              <a:rPr lang="zh-TW" altLang="en-US" smtClean="0"/>
              <a:t>　計數值抽樣檢驗計畫</a:t>
            </a:r>
            <a:r>
              <a:rPr lang="en-US" altLang="zh-TW" smtClean="0"/>
              <a:t>(MIL-STD-105E)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 smtClean="0"/>
              <a:t>9-</a:t>
            </a:r>
            <a:fld id="{6EFA9FA2-5783-4107-A1A9-71BB364840D4}" type="slidenum">
              <a:rPr lang="en-US" altLang="zh-TW" smtClean="0"/>
              <a:pPr/>
              <a:t>23</a:t>
            </a:fld>
            <a:endParaRPr lang="en-US" altLang="zh-TW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61" y="1450892"/>
            <a:ext cx="8382000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圓角矩形 6"/>
          <p:cNvSpPr/>
          <p:nvPr/>
        </p:nvSpPr>
        <p:spPr bwMode="auto">
          <a:xfrm>
            <a:off x="491142" y="3680175"/>
            <a:ext cx="8322625" cy="166254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 rot="16200000">
            <a:off x="2348455" y="3368736"/>
            <a:ext cx="3752109" cy="310655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9" name="圓角矩形 8"/>
          <p:cNvSpPr/>
          <p:nvPr/>
        </p:nvSpPr>
        <p:spPr bwMode="auto">
          <a:xfrm>
            <a:off x="469117" y="5400118"/>
            <a:ext cx="3922595" cy="454416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084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2820D332-72BC-4F69-A79E-EF328E0665E6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8861425" cy="1143000"/>
          </a:xfrm>
        </p:spPr>
        <p:txBody>
          <a:bodyPr/>
          <a:lstStyle/>
          <a:p>
            <a:r>
              <a:rPr lang="zh-TW" altLang="en-US"/>
              <a:t>範例</a:t>
            </a:r>
            <a:r>
              <a:rPr lang="en-US" altLang="zh-TW">
                <a:latin typeface="標楷體" pitchFamily="65" charset="-120"/>
              </a:rPr>
              <a:t>――</a:t>
            </a:r>
            <a:r>
              <a:rPr lang="en-US" altLang="zh-TW"/>
              <a:t> MIL-STD-105E</a:t>
            </a:r>
            <a:r>
              <a:rPr lang="zh-TW" altLang="en-US"/>
              <a:t>的轉換法則 </a:t>
            </a:r>
            <a:r>
              <a:rPr lang="en-US" altLang="zh-TW" sz="1600"/>
              <a:t>2/3</a:t>
            </a:r>
          </a:p>
        </p:txBody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dirty="0"/>
              <a:t>	</a:t>
            </a:r>
            <a:r>
              <a:rPr lang="zh-TW" altLang="en-US" dirty="0">
                <a:solidFill>
                  <a:srgbClr val="CC3300"/>
                </a:solidFill>
              </a:rPr>
              <a:t>解</a:t>
            </a:r>
            <a:r>
              <a:rPr lang="zh-TW" altLang="en-US" dirty="0"/>
              <a:t>：已知樣本大小代碼為</a:t>
            </a:r>
            <a:r>
              <a:rPr lang="en-US" altLang="zh-TW" dirty="0">
                <a:solidFill>
                  <a:srgbClr val="C00000"/>
                </a:solidFill>
              </a:rPr>
              <a:t>J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C00000"/>
                </a:solidFill>
              </a:rPr>
              <a:t>AQL=1.0%</a:t>
            </a:r>
            <a:r>
              <a:rPr lang="zh-TW" altLang="en-US" dirty="0"/>
              <a:t>，藉由</a:t>
            </a:r>
            <a:r>
              <a:rPr lang="zh-TW" altLang="en-US" dirty="0">
                <a:solidFill>
                  <a:srgbClr val="C00000"/>
                </a:solidFill>
              </a:rPr>
              <a:t>表</a:t>
            </a:r>
            <a:r>
              <a:rPr lang="en-US" altLang="zh-TW" dirty="0">
                <a:solidFill>
                  <a:srgbClr val="C00000"/>
                </a:solidFill>
              </a:rPr>
              <a:t>9.2</a:t>
            </a:r>
            <a:r>
              <a:rPr lang="zh-TW" altLang="en-US" dirty="0"/>
              <a:t>可知此一單次正常檢驗之抽樣計畫為</a:t>
            </a:r>
            <a:r>
              <a:rPr lang="en-US" altLang="zh-TW" dirty="0"/>
              <a:t>(</a:t>
            </a:r>
            <a:r>
              <a:rPr lang="en-US" altLang="zh-TW" i="1" dirty="0">
                <a:cs typeface="Times New Roman" pitchFamily="18" charset="0"/>
              </a:rPr>
              <a:t>n</a:t>
            </a:r>
            <a:r>
              <a:rPr lang="en-US" altLang="zh-TW" dirty="0">
                <a:cs typeface="Times New Roman" pitchFamily="18" charset="0"/>
              </a:rPr>
              <a:t>, </a:t>
            </a:r>
            <a:r>
              <a:rPr lang="en-US" altLang="zh-TW" i="1" dirty="0">
                <a:cs typeface="Times New Roman" pitchFamily="18" charset="0"/>
              </a:rPr>
              <a:t>c</a:t>
            </a:r>
            <a:r>
              <a:rPr lang="en-US" altLang="zh-TW" dirty="0">
                <a:cs typeface="Times New Roman" pitchFamily="18" charset="0"/>
              </a:rPr>
              <a:t>, </a:t>
            </a:r>
            <a:r>
              <a:rPr lang="en-US" altLang="zh-TW" i="1" dirty="0">
                <a:cs typeface="Times New Roman" pitchFamily="18" charset="0"/>
              </a:rPr>
              <a:t>r</a:t>
            </a:r>
            <a:r>
              <a:rPr lang="en-US" altLang="zh-TW" dirty="0"/>
              <a:t>)=(</a:t>
            </a:r>
            <a:r>
              <a:rPr lang="en-US" altLang="zh-TW" dirty="0">
                <a:solidFill>
                  <a:srgbClr val="C00000"/>
                </a:solidFill>
              </a:rPr>
              <a:t>80, 2, 3</a:t>
            </a:r>
            <a:r>
              <a:rPr lang="en-US" altLang="zh-TW" dirty="0"/>
              <a:t>)</a:t>
            </a:r>
            <a:r>
              <a:rPr lang="zh-TW" altLang="en-US" dirty="0"/>
              <a:t>；而嚴格檢驗之抽樣計畫為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r</a:t>
            </a:r>
            <a:r>
              <a:rPr lang="en-US" altLang="zh-TW" dirty="0"/>
              <a:t>)=(</a:t>
            </a:r>
            <a:r>
              <a:rPr lang="en-US" altLang="zh-TW" dirty="0">
                <a:solidFill>
                  <a:srgbClr val="C00000"/>
                </a:solidFill>
              </a:rPr>
              <a:t>80, 1, 2</a:t>
            </a:r>
            <a:r>
              <a:rPr lang="en-US" altLang="zh-TW" dirty="0"/>
              <a:t>)</a:t>
            </a:r>
          </a:p>
        </p:txBody>
      </p:sp>
      <p:pic>
        <p:nvPicPr>
          <p:cNvPr id="781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3957638"/>
            <a:ext cx="8032750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圓角矩形 1"/>
          <p:cNvSpPr/>
          <p:nvPr/>
        </p:nvSpPr>
        <p:spPr bwMode="auto">
          <a:xfrm>
            <a:off x="2006930" y="5094514"/>
            <a:ext cx="2719449" cy="308758"/>
          </a:xfrm>
          <a:prstGeom prst="roundRect">
            <a:avLst/>
          </a:prstGeom>
          <a:solidFill>
            <a:srgbClr val="FF0000">
              <a:alpha val="32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>
            <a:off x="5460670" y="5092535"/>
            <a:ext cx="3435680" cy="308758"/>
          </a:xfrm>
          <a:prstGeom prst="roundRect">
            <a:avLst/>
          </a:prstGeom>
          <a:solidFill>
            <a:srgbClr val="FF0000">
              <a:alpha val="32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ED52AFBA-07E8-4F7E-B1F2-4D7A5F11EB63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713" y="144463"/>
            <a:ext cx="8861425" cy="1143000"/>
          </a:xfrm>
        </p:spPr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>
                <a:latin typeface="標楷體" pitchFamily="65" charset="-120"/>
              </a:rPr>
              <a:t>――</a:t>
            </a:r>
            <a:r>
              <a:rPr lang="en-US" altLang="zh-TW" dirty="0"/>
              <a:t> MIL-STD-105E</a:t>
            </a:r>
            <a:r>
              <a:rPr lang="zh-TW" altLang="en-US" dirty="0"/>
              <a:t>的轉換法則 </a:t>
            </a:r>
            <a:r>
              <a:rPr lang="en-US" altLang="zh-TW" sz="1600" dirty="0"/>
              <a:t>3/3</a:t>
            </a:r>
          </a:p>
        </p:txBody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3200" dirty="0"/>
              <a:t>	</a:t>
            </a:r>
            <a:r>
              <a:rPr lang="zh-TW" altLang="en-US" sz="3200" dirty="0"/>
              <a:t>由上表可發現</a:t>
            </a:r>
            <a:r>
              <a:rPr lang="zh-TW" altLang="en-US" sz="3200" dirty="0">
                <a:solidFill>
                  <a:srgbClr val="C00000"/>
                </a:solidFill>
              </a:rPr>
              <a:t>連續</a:t>
            </a:r>
            <a:r>
              <a:rPr lang="en-US" altLang="zh-TW" sz="3200" dirty="0">
                <a:solidFill>
                  <a:srgbClr val="C00000"/>
                </a:solidFill>
              </a:rPr>
              <a:t>5</a:t>
            </a:r>
            <a:r>
              <a:rPr lang="zh-TW" altLang="en-US" sz="3200" dirty="0">
                <a:solidFill>
                  <a:srgbClr val="C00000"/>
                </a:solidFill>
              </a:rPr>
              <a:t>個批量中有</a:t>
            </a:r>
            <a:r>
              <a:rPr lang="en-US" altLang="zh-TW" sz="3200" dirty="0">
                <a:solidFill>
                  <a:srgbClr val="C00000"/>
                </a:solidFill>
              </a:rPr>
              <a:t>2</a:t>
            </a:r>
            <a:r>
              <a:rPr lang="zh-TW" altLang="en-US" sz="3200" dirty="0">
                <a:solidFill>
                  <a:srgbClr val="C00000"/>
                </a:solidFill>
              </a:rPr>
              <a:t>個批量被拒收</a:t>
            </a:r>
            <a:r>
              <a:rPr lang="zh-TW" altLang="en-US" sz="3200" dirty="0"/>
              <a:t>，故</a:t>
            </a:r>
            <a:r>
              <a:rPr lang="zh-TW" altLang="en-US" sz="3200" dirty="0">
                <a:solidFill>
                  <a:srgbClr val="C00000"/>
                </a:solidFill>
              </a:rPr>
              <a:t>第</a:t>
            </a:r>
            <a:r>
              <a:rPr lang="en-US" altLang="zh-TW" sz="3200" dirty="0">
                <a:solidFill>
                  <a:srgbClr val="C00000"/>
                </a:solidFill>
              </a:rPr>
              <a:t>5</a:t>
            </a:r>
            <a:r>
              <a:rPr lang="zh-TW" altLang="en-US" sz="3200" dirty="0">
                <a:solidFill>
                  <a:srgbClr val="C00000"/>
                </a:solidFill>
              </a:rPr>
              <a:t>批起</a:t>
            </a:r>
            <a:r>
              <a:rPr lang="zh-TW" altLang="en-US" sz="3200" dirty="0"/>
              <a:t>，吾人應採取</a:t>
            </a:r>
            <a:r>
              <a:rPr lang="zh-TW" altLang="en-US" sz="3200" dirty="0">
                <a:solidFill>
                  <a:srgbClr val="C00000"/>
                </a:solidFill>
              </a:rPr>
              <a:t>嚴格檢驗</a:t>
            </a:r>
            <a:r>
              <a:rPr lang="en-US" altLang="zh-TW" sz="3200" dirty="0">
                <a:solidFill>
                  <a:srgbClr val="C00000"/>
                </a:solidFill>
              </a:rPr>
              <a:t>(T)</a:t>
            </a:r>
            <a:r>
              <a:rPr lang="zh-TW" altLang="en-US" sz="3200" dirty="0"/>
              <a:t>，而採取嚴格檢驗後，</a:t>
            </a:r>
            <a:r>
              <a:rPr lang="zh-TW" altLang="en-US" sz="3200" dirty="0">
                <a:solidFill>
                  <a:srgbClr val="C00000"/>
                </a:solidFill>
              </a:rPr>
              <a:t>連續</a:t>
            </a:r>
            <a:r>
              <a:rPr lang="en-US" altLang="zh-TW" sz="3200" dirty="0">
                <a:solidFill>
                  <a:srgbClr val="C00000"/>
                </a:solidFill>
              </a:rPr>
              <a:t>5</a:t>
            </a:r>
            <a:r>
              <a:rPr lang="zh-TW" altLang="en-US" sz="3200" dirty="0">
                <a:solidFill>
                  <a:srgbClr val="C00000"/>
                </a:solidFill>
              </a:rPr>
              <a:t>批</a:t>
            </a:r>
            <a:r>
              <a:rPr lang="zh-TW" altLang="en-US" sz="3200" dirty="0" smtClean="0">
                <a:solidFill>
                  <a:srgbClr val="C00000"/>
                </a:solidFill>
              </a:rPr>
              <a:t>被接受</a:t>
            </a:r>
            <a:r>
              <a:rPr lang="zh-TW" altLang="en-US" sz="3200" dirty="0"/>
              <a:t>則下一批之檢驗計畫可重回至</a:t>
            </a:r>
            <a:r>
              <a:rPr lang="zh-TW" altLang="en-US" sz="3200" dirty="0">
                <a:solidFill>
                  <a:srgbClr val="C00000"/>
                </a:solidFill>
              </a:rPr>
              <a:t>正常檢驗</a:t>
            </a:r>
            <a:r>
              <a:rPr lang="en-US" altLang="zh-TW" sz="3200" dirty="0"/>
              <a:t>(N)</a:t>
            </a:r>
            <a:r>
              <a:rPr lang="zh-TW" altLang="en-US" sz="32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8DCC7A19-9930-4D0B-9D84-E5300C96F9A3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6288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MIL-STD-105E</a:t>
            </a:r>
            <a:r>
              <a:rPr lang="zh-TW" altLang="en-US" dirty="0"/>
              <a:t>的轉換法則 </a:t>
            </a:r>
            <a:r>
              <a:rPr lang="en-US" altLang="zh-TW" sz="1600" dirty="0"/>
              <a:t>1/2</a:t>
            </a:r>
          </a:p>
        </p:txBody>
      </p:sp>
      <p:sp>
        <p:nvSpPr>
          <p:cNvPr id="762889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7</a:t>
            </a:r>
            <a:r>
              <a:rPr lang="zh-TW" altLang="en-US" dirty="0"/>
              <a:t>：</a:t>
            </a:r>
          </a:p>
          <a:p>
            <a:pPr>
              <a:buFontTx/>
              <a:buNone/>
            </a:pPr>
            <a:r>
              <a:rPr lang="zh-TW" altLang="en-US" dirty="0"/>
              <a:t>	假設某產品之</a:t>
            </a:r>
            <a:r>
              <a:rPr lang="zh-TW" altLang="en-US" dirty="0">
                <a:solidFill>
                  <a:srgbClr val="C00000"/>
                </a:solidFill>
              </a:rPr>
              <a:t>批量為</a:t>
            </a:r>
            <a:r>
              <a:rPr lang="en-US" altLang="zh-TW" dirty="0">
                <a:solidFill>
                  <a:srgbClr val="C00000"/>
                </a:solidFill>
              </a:rPr>
              <a:t>2000</a:t>
            </a:r>
            <a:r>
              <a:rPr lang="zh-TW" altLang="en-US" dirty="0">
                <a:solidFill>
                  <a:srgbClr val="C00000"/>
                </a:solidFill>
              </a:rPr>
              <a:t>件</a:t>
            </a:r>
            <a:r>
              <a:rPr lang="zh-TW" altLang="en-US" dirty="0"/>
              <a:t>，此產品之</a:t>
            </a:r>
            <a:r>
              <a:rPr lang="zh-TW" altLang="en-US" dirty="0">
                <a:solidFill>
                  <a:srgbClr val="C00000"/>
                </a:solidFill>
              </a:rPr>
              <a:t>缺點項目共</a:t>
            </a:r>
            <a:r>
              <a:rPr lang="en-US" altLang="zh-TW" dirty="0">
                <a:solidFill>
                  <a:srgbClr val="C00000"/>
                </a:solidFill>
              </a:rPr>
              <a:t>10</a:t>
            </a:r>
            <a:r>
              <a:rPr lang="zh-TW" altLang="en-US" dirty="0">
                <a:solidFill>
                  <a:srgbClr val="C00000"/>
                </a:solidFill>
              </a:rPr>
              <a:t>種</a:t>
            </a:r>
            <a:r>
              <a:rPr lang="zh-TW" altLang="en-US" dirty="0"/>
              <a:t>，其中有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>
                <a:solidFill>
                  <a:srgbClr val="C00000"/>
                </a:solidFill>
              </a:rPr>
              <a:t>種為主要缺點</a:t>
            </a:r>
            <a:r>
              <a:rPr lang="zh-TW" altLang="en-US" dirty="0"/>
              <a:t>，</a:t>
            </a:r>
            <a:r>
              <a:rPr lang="en-US" altLang="zh-TW" dirty="0">
                <a:solidFill>
                  <a:srgbClr val="C00000"/>
                </a:solidFill>
              </a:rPr>
              <a:t>AQL=0.4%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另外</a:t>
            </a:r>
            <a:r>
              <a:rPr lang="en-US" altLang="zh-TW" dirty="0">
                <a:solidFill>
                  <a:srgbClr val="C00000"/>
                </a:solidFill>
              </a:rPr>
              <a:t>8</a:t>
            </a:r>
            <a:r>
              <a:rPr lang="zh-TW" altLang="en-US" dirty="0">
                <a:solidFill>
                  <a:srgbClr val="C00000"/>
                </a:solidFill>
              </a:rPr>
              <a:t>種為次要缺點</a:t>
            </a:r>
            <a:r>
              <a:rPr lang="zh-TW" altLang="en-US" dirty="0"/>
              <a:t>，其</a:t>
            </a:r>
            <a:r>
              <a:rPr lang="en-US" altLang="zh-TW" dirty="0">
                <a:solidFill>
                  <a:srgbClr val="C00000"/>
                </a:solidFill>
              </a:rPr>
              <a:t>AQL=1.0%</a:t>
            </a:r>
            <a:r>
              <a:rPr lang="zh-TW" altLang="en-US" dirty="0"/>
              <a:t>，現採用</a:t>
            </a:r>
            <a:r>
              <a:rPr lang="zh-TW" altLang="en-US" dirty="0">
                <a:solidFill>
                  <a:srgbClr val="C00000"/>
                </a:solidFill>
              </a:rPr>
              <a:t>一般檢驗水準</a:t>
            </a:r>
            <a:r>
              <a:rPr lang="en-US" altLang="zh-TW" dirty="0">
                <a:solidFill>
                  <a:srgbClr val="C00000"/>
                </a:solidFill>
              </a:rPr>
              <a:t>II</a:t>
            </a:r>
            <a:r>
              <a:rPr lang="zh-TW" altLang="en-US" dirty="0"/>
              <a:t>。試求：</a:t>
            </a:r>
          </a:p>
        </p:txBody>
      </p:sp>
      <p:graphicFrame>
        <p:nvGraphicFramePr>
          <p:cNvPr id="762890" name="Object 10"/>
          <p:cNvGraphicFramePr>
            <a:graphicFrameLocks noChangeAspect="1"/>
          </p:cNvGraphicFramePr>
          <p:nvPr/>
        </p:nvGraphicFramePr>
        <p:xfrm>
          <a:off x="938213" y="4368800"/>
          <a:ext cx="4552950" cy="190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915" name="Equation" r:id="rId4" imgW="1714320" imgH="952200" progId="Equation.DSMT4">
                  <p:embed/>
                </p:oleObj>
              </mc:Choice>
              <mc:Fallback>
                <p:oleObj name="Equation" r:id="rId4" imgW="1714320" imgH="952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4368800"/>
                        <a:ext cx="4552950" cy="190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MIL-STD-105E</a:t>
            </a:r>
            <a:r>
              <a:rPr lang="zh-TW" altLang="en-US" dirty="0"/>
              <a:t>的轉換法則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 smtClean="0"/>
              <a:t>品質管理：理論與實務　</a:t>
            </a:r>
            <a:r>
              <a:rPr lang="en-US" altLang="zh-TW" smtClean="0"/>
              <a:t>chapter 9</a:t>
            </a:r>
            <a:r>
              <a:rPr lang="zh-TW" altLang="en-US" smtClean="0"/>
              <a:t>　計數值抽樣檢驗計畫</a:t>
            </a:r>
            <a:r>
              <a:rPr lang="en-US" altLang="zh-TW" smtClean="0"/>
              <a:t>(MIL-STD-105E)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 smtClean="0"/>
              <a:t>9-</a:t>
            </a:r>
            <a:fld id="{6EFA9FA2-5783-4107-A1A9-71BB364840D4}" type="slidenum">
              <a:rPr lang="en-US" altLang="zh-TW" smtClean="0"/>
              <a:pPr/>
              <a:t>27</a:t>
            </a:fld>
            <a:endParaRPr lang="en-US" altLang="zh-TW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1817688"/>
            <a:ext cx="5791200" cy="445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圓角矩形 7"/>
          <p:cNvSpPr/>
          <p:nvPr/>
        </p:nvSpPr>
        <p:spPr bwMode="auto">
          <a:xfrm>
            <a:off x="1890713" y="4615545"/>
            <a:ext cx="5791200" cy="332509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9" name="圓角矩形 8"/>
          <p:cNvSpPr/>
          <p:nvPr/>
        </p:nvSpPr>
        <p:spPr bwMode="auto">
          <a:xfrm rot="16200000">
            <a:off x="4712566" y="3988458"/>
            <a:ext cx="4228648" cy="332509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535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MIL-STD-105E</a:t>
            </a:r>
            <a:r>
              <a:rPr lang="zh-TW" altLang="en-US" dirty="0"/>
              <a:t>的轉換法則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 smtClean="0"/>
              <a:t>品質管理：理論與實務　</a:t>
            </a:r>
            <a:r>
              <a:rPr lang="en-US" altLang="zh-TW" smtClean="0"/>
              <a:t>chapter 9</a:t>
            </a:r>
            <a:r>
              <a:rPr lang="zh-TW" altLang="en-US" smtClean="0"/>
              <a:t>　計數值抽樣檢驗計畫</a:t>
            </a:r>
            <a:r>
              <a:rPr lang="en-US" altLang="zh-TW" smtClean="0"/>
              <a:t>(MIL-STD-105E)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 smtClean="0"/>
              <a:t>9-</a:t>
            </a:r>
            <a:fld id="{6EFA9FA2-5783-4107-A1A9-71BB364840D4}" type="slidenum">
              <a:rPr lang="en-US" altLang="zh-TW" smtClean="0"/>
              <a:pPr/>
              <a:t>28</a:t>
            </a:fld>
            <a:endParaRPr lang="en-US" altLang="zh-TW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61" y="1450892"/>
            <a:ext cx="8382000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圓角矩形 6"/>
          <p:cNvSpPr/>
          <p:nvPr/>
        </p:nvSpPr>
        <p:spPr bwMode="auto">
          <a:xfrm>
            <a:off x="491142" y="3846425"/>
            <a:ext cx="8322625" cy="166254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 rot="16200000">
            <a:off x="1742813" y="3368736"/>
            <a:ext cx="3752109" cy="310655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10" name="圓角矩形 9"/>
          <p:cNvSpPr/>
          <p:nvPr/>
        </p:nvSpPr>
        <p:spPr bwMode="auto">
          <a:xfrm rot="16200000">
            <a:off x="2348455" y="3390510"/>
            <a:ext cx="3752109" cy="310655"/>
          </a:xfrm>
          <a:prstGeom prst="roundRect">
            <a:avLst/>
          </a:prstGeom>
          <a:solidFill>
            <a:srgbClr val="FF0000">
              <a:alpha val="25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550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 altLang="en-US"/>
              <a:t>品質管理：理論與實務　</a:t>
            </a:r>
            <a:r>
              <a:rPr lang="en-US" altLang="zh-TW"/>
              <a:t>chapter 9</a:t>
            </a:r>
            <a:r>
              <a:rPr lang="zh-TW" altLang="en-US"/>
              <a:t>　計數值抽樣檢驗計畫</a:t>
            </a:r>
            <a:r>
              <a:rPr lang="en-US" altLang="zh-TW"/>
              <a:t>(MIL-STD-105E)</a:t>
            </a:r>
          </a:p>
        </p:txBody>
      </p:sp>
      <p:sp>
        <p:nvSpPr>
          <p:cNvPr id="7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TW"/>
              <a:t>9-</a:t>
            </a:r>
            <a:fld id="{F1C89945-32F7-422D-96E6-FEBA3259D42A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8439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MIL-STD-105E</a:t>
            </a:r>
            <a:r>
              <a:rPr lang="zh-TW" altLang="en-US"/>
              <a:t>的轉換法則 </a:t>
            </a:r>
            <a:r>
              <a:rPr lang="en-US" altLang="zh-TW" sz="1600"/>
              <a:t>2/2</a:t>
            </a:r>
          </a:p>
        </p:txBody>
      </p:sp>
      <p:sp>
        <p:nvSpPr>
          <p:cNvPr id="784395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TW" dirty="0"/>
              <a:t>MIL-STD-105E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單次抽樣方法</a:t>
            </a:r>
            <a:r>
              <a:rPr lang="zh-TW" altLang="en-US" dirty="0"/>
              <a:t>下的</a:t>
            </a:r>
            <a:r>
              <a:rPr lang="zh-TW" altLang="en-US" dirty="0">
                <a:solidFill>
                  <a:srgbClr val="C00000"/>
                </a:solidFill>
              </a:rPr>
              <a:t>正常與嚴格</a:t>
            </a:r>
            <a:r>
              <a:rPr lang="zh-TW" altLang="en-US" dirty="0"/>
              <a:t>檢驗計畫。</a:t>
            </a:r>
          </a:p>
          <a:p>
            <a:pPr lvl="1"/>
            <a:r>
              <a:rPr lang="zh-TW" altLang="en-US" dirty="0"/>
              <a:t>若上述產品之</a:t>
            </a:r>
            <a:r>
              <a:rPr lang="zh-TW" altLang="en-US" dirty="0">
                <a:solidFill>
                  <a:srgbClr val="C00000"/>
                </a:solidFill>
              </a:rPr>
              <a:t>不合格率分別為</a:t>
            </a:r>
            <a:r>
              <a:rPr lang="en-US" altLang="zh-TW" dirty="0">
                <a:solidFill>
                  <a:srgbClr val="C00000"/>
                </a:solidFill>
              </a:rPr>
              <a:t>0.8%</a:t>
            </a:r>
            <a:r>
              <a:rPr lang="zh-TW" altLang="en-US" dirty="0">
                <a:solidFill>
                  <a:srgbClr val="C00000"/>
                </a:solidFill>
              </a:rPr>
              <a:t>及</a:t>
            </a:r>
            <a:r>
              <a:rPr lang="en-US" altLang="zh-TW" dirty="0">
                <a:solidFill>
                  <a:srgbClr val="C00000"/>
                </a:solidFill>
              </a:rPr>
              <a:t>2.5%</a:t>
            </a:r>
            <a:r>
              <a:rPr lang="zh-TW" altLang="en-US" dirty="0"/>
              <a:t>，試計算在</a:t>
            </a:r>
            <a:r>
              <a:rPr lang="zh-TW" altLang="en-US" dirty="0">
                <a:solidFill>
                  <a:srgbClr val="C00000"/>
                </a:solidFill>
              </a:rPr>
              <a:t>抽樣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>
                <a:solidFill>
                  <a:srgbClr val="C00000"/>
                </a:solidFill>
              </a:rPr>
              <a:t>次後</a:t>
            </a:r>
            <a:r>
              <a:rPr lang="zh-TW" altLang="en-US" dirty="0"/>
              <a:t>由</a:t>
            </a:r>
            <a:r>
              <a:rPr lang="zh-TW" altLang="en-US" dirty="0">
                <a:solidFill>
                  <a:srgbClr val="C00000"/>
                </a:solidFill>
              </a:rPr>
              <a:t>正常轉為嚴格檢驗</a:t>
            </a:r>
            <a:r>
              <a:rPr lang="zh-TW" altLang="en-US" dirty="0"/>
              <a:t>之機率？</a:t>
            </a:r>
          </a:p>
          <a:p>
            <a:pPr lvl="1"/>
            <a:endParaRPr lang="zh-TW" altLang="en-US" dirty="0"/>
          </a:p>
          <a:p>
            <a:pPr lvl="1"/>
            <a:endParaRPr lang="zh-TW" altLang="en-US" dirty="0"/>
          </a:p>
          <a:p>
            <a:pPr lvl="1"/>
            <a:r>
              <a:rPr lang="zh-TW" altLang="en-US" dirty="0"/>
              <a:t>同上題，在嚴格檢驗下，該批產品</a:t>
            </a:r>
            <a:r>
              <a:rPr lang="zh-TW" altLang="en-US" dirty="0">
                <a:solidFill>
                  <a:srgbClr val="C00000"/>
                </a:solidFill>
              </a:rPr>
              <a:t>被允收之機率</a:t>
            </a:r>
            <a:r>
              <a:rPr lang="zh-TW" altLang="en-US" dirty="0"/>
              <a:t>？</a:t>
            </a:r>
          </a:p>
        </p:txBody>
      </p:sp>
      <p:graphicFrame>
        <p:nvGraphicFramePr>
          <p:cNvPr id="784390" name="Object 6"/>
          <p:cNvGraphicFramePr>
            <a:graphicFrameLocks noChangeAspect="1"/>
          </p:cNvGraphicFramePr>
          <p:nvPr/>
        </p:nvGraphicFramePr>
        <p:xfrm>
          <a:off x="1270000" y="3652838"/>
          <a:ext cx="78740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440" name="Equation" r:id="rId3" imgW="4381200" imgH="482400" progId="Equation.DSMT4">
                  <p:embed/>
                </p:oleObj>
              </mc:Choice>
              <mc:Fallback>
                <p:oleObj name="Equation" r:id="rId3" imgW="4381200" imgH="4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3652838"/>
                        <a:ext cx="78740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4392" name="Object 8"/>
          <p:cNvGraphicFramePr>
            <a:graphicFrameLocks noChangeAspect="1"/>
          </p:cNvGraphicFramePr>
          <p:nvPr/>
        </p:nvGraphicFramePr>
        <p:xfrm>
          <a:off x="1403350" y="5418138"/>
          <a:ext cx="660717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441" name="Equation" r:id="rId5" imgW="3670200" imgH="419040" progId="Equation.DSMT4">
                  <p:embed/>
                </p:oleObj>
              </mc:Choice>
              <mc:Fallback>
                <p:oleObj name="Equation" r:id="rId5" imgW="367020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418138"/>
                        <a:ext cx="660717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自訂設計">
  <a:themeElements>
    <a:clrScheme name="1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訂設計">
      <a:majorFont>
        <a:latin typeface="Arial"/>
        <a:ea typeface="新細明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1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2511</TotalTime>
  <Words>1002</Words>
  <Application>Microsoft Office PowerPoint</Application>
  <PresentationFormat>如螢幕大小 (4:3)</PresentationFormat>
  <Paragraphs>204</Paragraphs>
  <Slides>29</Slides>
  <Notes>17</Notes>
  <HiddenSlides>0</HiddenSlides>
  <MMClips>0</MMClips>
  <ScaleCrop>false</ScaleCrop>
  <HeadingPairs>
    <vt:vector size="6" baseType="variant">
      <vt:variant>
        <vt:lpstr>佈景主題</vt:lpstr>
      </vt:variant>
      <vt:variant>
        <vt:i4>3</vt:i4>
      </vt:variant>
      <vt:variant>
        <vt:lpstr>內嵌 OLE 伺服程式</vt:lpstr>
      </vt:variant>
      <vt:variant>
        <vt:i4>3</vt:i4>
      </vt:variant>
      <vt:variant>
        <vt:lpstr>投影片標題</vt:lpstr>
      </vt:variant>
      <vt:variant>
        <vt:i4>29</vt:i4>
      </vt:variant>
    </vt:vector>
  </HeadingPairs>
  <TitlesOfParts>
    <vt:vector size="35" baseType="lpstr">
      <vt:lpstr>Blends</vt:lpstr>
      <vt:lpstr>自訂設計</vt:lpstr>
      <vt:lpstr>1_自訂設計</vt:lpstr>
      <vt:lpstr>Equation</vt:lpstr>
      <vt:lpstr>方程式</vt:lpstr>
      <vt:lpstr>Microsoft 方程式編輯器 3.0</vt:lpstr>
      <vt:lpstr>PowerPoint 簡報</vt:lpstr>
      <vt:lpstr>計數值抽樣檢驗計畫</vt:lpstr>
      <vt:lpstr>計數值抽樣檢驗計畫</vt:lpstr>
      <vt:lpstr>使用105E之步驟 </vt:lpstr>
      <vt:lpstr>單次抽樣檢驗計畫</vt:lpstr>
      <vt:lpstr>雙次抽樣檢驗計畫 1/2 </vt:lpstr>
      <vt:lpstr>雙次抽樣檢驗計畫 2/2</vt:lpstr>
      <vt:lpstr>範例—單次抽樣檢驗計畫 1/4</vt:lpstr>
      <vt:lpstr>範例—單次抽樣檢驗計畫 3/4</vt:lpstr>
      <vt:lpstr>範例—單次抽樣檢驗計畫 4/4</vt:lpstr>
      <vt:lpstr>範例—單次抽樣檢驗計畫 2/4</vt:lpstr>
      <vt:lpstr>範例――雙次抽樣檢驗計畫 1/4</vt:lpstr>
      <vt:lpstr>PowerPoint 簡報</vt:lpstr>
      <vt:lpstr>範例――雙次抽樣檢驗計畫 3/4</vt:lpstr>
      <vt:lpstr>範例――雙次抽樣檢驗計畫 4/4</vt:lpstr>
      <vt:lpstr>MIL-STD-105E的轉換法則 1/6</vt:lpstr>
      <vt:lpstr>MIL-STD-105E的轉換法則 2/6</vt:lpstr>
      <vt:lpstr>MIL-STD-105E的轉換法則 3/6</vt:lpstr>
      <vt:lpstr>MIL-STD-105E的轉換法則 4/6</vt:lpstr>
      <vt:lpstr>MIL-STD-105E的轉換法則 5/6</vt:lpstr>
      <vt:lpstr>PowerPoint 簡報</vt:lpstr>
      <vt:lpstr>範例―― MIL-STD-105E的轉換法則 1/3</vt:lpstr>
      <vt:lpstr>MIL-STD-105E的轉換</vt:lpstr>
      <vt:lpstr>範例―― MIL-STD-105E的轉換法則 2/3</vt:lpstr>
      <vt:lpstr>範例―― MIL-STD-105E的轉換法則 3/3</vt:lpstr>
      <vt:lpstr>MIL-STD-105E的轉換法則 1/2</vt:lpstr>
      <vt:lpstr>MIL-STD-105E的轉換法則</vt:lpstr>
      <vt:lpstr>MIL-STD-105E的轉換法則</vt:lpstr>
      <vt:lpstr>MIL-STD-105E的轉換法則 2/2</vt:lpstr>
    </vt:vector>
  </TitlesOfParts>
  <Company>eci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第十五章</dc:title>
  <dc:creator>Wen-Ruey Lee</dc:creator>
  <cp:lastModifiedBy>Stoney Tsai</cp:lastModifiedBy>
  <cp:revision>705</cp:revision>
  <dcterms:created xsi:type="dcterms:W3CDTF">2002-02-28T07:57:01Z</dcterms:created>
  <dcterms:modified xsi:type="dcterms:W3CDTF">2011-11-29T10:59:00Z</dcterms:modified>
</cp:coreProperties>
</file>